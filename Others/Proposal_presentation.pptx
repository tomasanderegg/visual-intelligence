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60" r:id="rId4"/>
  </p:sldMasterIdLst>
  <p:notesMasterIdLst>
    <p:notesMasterId r:id="rId13"/>
  </p:notesMasterIdLst>
  <p:handoutMasterIdLst>
    <p:handoutMasterId r:id="rId14"/>
  </p:handoutMasterIdLst>
  <p:sldIdLst>
    <p:sldId id="256" r:id="rId5"/>
    <p:sldId id="310" r:id="rId6"/>
    <p:sldId id="306" r:id="rId7"/>
    <p:sldId id="315" r:id="rId8"/>
    <p:sldId id="311" r:id="rId9"/>
    <p:sldId id="316" r:id="rId10"/>
    <p:sldId id="317" r:id="rId11"/>
    <p:sldId id="287" r:id="rId12"/>
  </p:sldIdLst>
  <p:sldSz cx="9144000" cy="5143500" type="screen16x9"/>
  <p:notesSz cx="6858000" cy="9144000"/>
  <p:defaultTextStyle>
    <a:defPPr>
      <a:defRPr lang="fr-FR"/>
    </a:defPPr>
    <a:lvl1pPr marL="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1pPr>
    <a:lvl2pPr marL="3429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2pPr>
    <a:lvl3pPr marL="6858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3pPr>
    <a:lvl4pPr marL="10287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4pPr>
    <a:lvl5pPr marL="13716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5pPr>
    <a:lvl6pPr marL="17145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6pPr>
    <a:lvl7pPr marL="20574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7pPr>
    <a:lvl8pPr marL="24003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8pPr>
    <a:lvl9pPr marL="27432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903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29A8F"/>
    <a:srgbClr val="239B90"/>
    <a:srgbClr val="135B5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38EC2B6-F377-4441-8308-38D440C5453F}" v="62" dt="2026-04-02T15:36:49.95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8A107856-5554-42FB-B03E-39F5DBC370BA}" styleName="Medium Style 4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940" y="52"/>
      </p:cViewPr>
      <p:guideLst>
        <p:guide orient="horz" pos="1620"/>
        <p:guide pos="2903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notesMaster" Target="notesMasters/notesMaster1.xml"/><Relationship Id="rId18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microsoft.com/office/2015/10/relationships/revisionInfo" Target="revisionInfo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CH">
              <a:latin typeface="Arial" panose="020B0604020202020204" pitchFamily="34" charset="0"/>
            </a:endParaRPr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5279B33-A94D-4C8C-88C2-619932967EF3}" type="datetimeFigureOut">
              <a:rPr lang="fr-CH" smtClean="0">
                <a:latin typeface="Arial" panose="020B0604020202020204" pitchFamily="34" charset="0"/>
              </a:rPr>
              <a:t>09.04.2026</a:t>
            </a:fld>
            <a:endParaRPr lang="fr-CH">
              <a:latin typeface="Arial" panose="020B0604020202020204" pitchFamily="34" charset="0"/>
            </a:endParaRPr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CH">
              <a:latin typeface="Arial" panose="020B0604020202020204" pitchFamily="34" charset="0"/>
            </a:endParaRPr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7BF4AF0-8439-436D-BEF0-52070F19E1B6}" type="slidenum">
              <a:rPr lang="fr-CH" smtClean="0">
                <a:latin typeface="Arial" panose="020B0604020202020204" pitchFamily="34" charset="0"/>
              </a:rPr>
              <a:t>‹#›</a:t>
            </a:fld>
            <a:endParaRPr lang="fr-CH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2490568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Arial" panose="020B0604020202020204" pitchFamily="34" charset="0"/>
              </a:defRPr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Arial" panose="020B0604020202020204" pitchFamily="34" charset="0"/>
              </a:defRPr>
            </a:lvl1pPr>
          </a:lstStyle>
          <a:p>
            <a:fld id="{F8103E42-5239-1A40-AD33-3EE7E9DDF5FD}" type="datetimeFigureOut">
              <a:rPr lang="fr-FR" smtClean="0"/>
              <a:pPr/>
              <a:t>09/04/2026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fr-FR"/>
              <a:t>Modifier les styles du texte du masque
Deuxième niveau
Troisième niveau
Quatrième niveau
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Arial" panose="020B0604020202020204" pitchFamily="34" charset="0"/>
              </a:defRPr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Arial" panose="020B0604020202020204" pitchFamily="34" charset="0"/>
              </a:defRPr>
            </a:lvl1pPr>
          </a:lstStyle>
          <a:p>
            <a:fld id="{4CF50783-AAED-1941-8BCC-9F6140F0A6B1}" type="slidenum">
              <a:rPr lang="fr-FR" smtClean="0"/>
              <a:pPr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2674272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F50783-AAED-1941-8BCC-9F6140F0A6B1}" type="slidenum">
              <a:rPr lang="fr-FR" smtClean="0"/>
              <a:pPr/>
              <a:t>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6393297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F50783-AAED-1941-8BCC-9F6140F0A6B1}" type="slidenum">
              <a:rPr lang="fr-FR" smtClean="0"/>
              <a:pPr/>
              <a:t>8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9835781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Espace réservé pour une image  11">
            <a:extLst>
              <a:ext uri="{FF2B5EF4-FFF2-40B4-BE49-F238E27FC236}">
                <a16:creationId xmlns:a16="http://schemas.microsoft.com/office/drawing/2014/main" id="{4CF6F629-51E7-9F40-939D-F50AE3925ADE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331913" y="0"/>
            <a:ext cx="7812087" cy="4948238"/>
          </a:xfrm>
        </p:spPr>
        <p:txBody>
          <a:bodyPr/>
          <a:lstStyle/>
          <a:p>
            <a:r>
              <a:rPr lang="fr-FR"/>
              <a:t>Cliquez sur l'icône pour ajouter une image</a:t>
            </a: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405563" y="786535"/>
            <a:ext cx="2738437" cy="2338387"/>
          </a:xfrm>
          <a:solidFill>
            <a:schemeClr val="accent1"/>
          </a:solidFill>
        </p:spPr>
        <p:txBody>
          <a:bodyPr lIns="216000" anchor="ctr" anchorCtr="0">
            <a:normAutofit/>
          </a:bodyPr>
          <a:lstStyle>
            <a:lvl1pPr algn="l">
              <a:defRPr sz="3600">
                <a:solidFill>
                  <a:schemeClr val="bg1"/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76763" y="3124922"/>
            <a:ext cx="1828800" cy="1568450"/>
          </a:xfrm>
          <a:solidFill>
            <a:schemeClr val="tx1"/>
          </a:solidFill>
        </p:spPr>
        <p:txBody>
          <a:bodyPr lIns="90000" anchor="ctr" anchorCtr="0">
            <a:normAutofit/>
          </a:bodyPr>
          <a:lstStyle>
            <a:lvl1pPr marL="0" indent="0" algn="ctr">
              <a:buNone/>
              <a:defRPr sz="1200">
                <a:solidFill>
                  <a:schemeClr val="bg1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fr-FR"/>
              <a:t>Modifiez le style des sous-titres du masque</a:t>
            </a:r>
            <a:endParaRPr lang="en-US"/>
          </a:p>
        </p:txBody>
      </p:sp>
      <p:pic>
        <p:nvPicPr>
          <p:cNvPr id="9" name="Image 8">
            <a:extLst>
              <a:ext uri="{FF2B5EF4-FFF2-40B4-BE49-F238E27FC236}">
                <a16:creationId xmlns:a16="http://schemas.microsoft.com/office/drawing/2014/main" id="{6535A482-EC85-1C41-A1E4-7882A0E39FF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2647" y="80283"/>
            <a:ext cx="1175301" cy="508655"/>
          </a:xfrm>
          <a:prstGeom prst="rect">
            <a:avLst/>
          </a:prstGeom>
        </p:spPr>
      </p:pic>
      <p:sp>
        <p:nvSpPr>
          <p:cNvPr id="16" name="Espace réservé du texte 4">
            <a:extLst>
              <a:ext uri="{FF2B5EF4-FFF2-40B4-BE49-F238E27FC236}">
                <a16:creationId xmlns:a16="http://schemas.microsoft.com/office/drawing/2014/main" id="{01960462-6F28-0740-916D-499D3BEDB2B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400800" y="4683125"/>
            <a:ext cx="1828800" cy="460375"/>
          </a:xfrm>
          <a:solidFill>
            <a:schemeClr val="bg1"/>
          </a:solidFill>
        </p:spPr>
        <p:txBody>
          <a:bodyPr lIns="90000" anchor="ctr">
            <a:noAutofit/>
          </a:bodyPr>
          <a:lstStyle>
            <a:lvl1pPr marL="0" indent="0" algn="ctr">
              <a:buNone/>
              <a:defRPr sz="1100"/>
            </a:lvl1pPr>
          </a:lstStyle>
          <a:p>
            <a:pPr lvl="0"/>
            <a:r>
              <a:rPr lang="fr-FR"/>
              <a:t>Modifier les styles du texte du masque
Deuxième niveau
Troisième niveau
Quatrième niveau
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1E187583-F16A-6F41-8B68-000F9C9C20D3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2550" y="4440264"/>
            <a:ext cx="698500" cy="507975"/>
          </a:xfrm>
        </p:spPr>
        <p:txBody>
          <a:bodyPr lIns="0" tIns="0" rIns="0" bIns="0" anchor="b" anchorCtr="0">
            <a:noAutofit/>
          </a:bodyPr>
          <a:lstStyle>
            <a:lvl1pPr marL="114300" indent="-107950">
              <a:buFontTx/>
              <a:buBlip>
                <a:blip r:embed="rId3"/>
              </a:buBlip>
              <a:tabLst/>
              <a:defRPr lang="en-US" sz="800" b="0" i="0" smtClean="0">
                <a:effectLst/>
              </a:defRPr>
            </a:lvl1pPr>
          </a:lstStyle>
          <a:p>
            <a:r>
              <a:rPr lang="fr-FR" err="1"/>
              <a:t>School</a:t>
            </a:r>
            <a:r>
              <a:rPr lang="fr-FR"/>
              <a:t> of </a:t>
            </a:r>
            <a:r>
              <a:rPr lang="fr-FR" err="1"/>
              <a:t>Engeneering</a:t>
            </a:r>
            <a:r>
              <a:rPr lang="fr-FR"/>
              <a:t> </a:t>
            </a:r>
            <a:r>
              <a:rPr lang="en-US" b="0" i="0">
                <a:solidFill>
                  <a:srgbClr val="454545"/>
                </a:solidFill>
                <a:effectLst/>
                <a:latin typeface="Arial" panose="020B0604020202020204" pitchFamily="34" charset="0"/>
              </a:rPr>
              <a:t>IMT </a:t>
            </a:r>
            <a:r>
              <a:rPr lang="fr-FR"/>
              <a:t>Q-LAB </a:t>
            </a:r>
            <a:r>
              <a:rPr lang="fr-FR" err="1"/>
              <a:t>project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7788087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880" userDrawn="1">
          <p15:clr>
            <a:srgbClr val="FBAE40"/>
          </p15:clr>
        </p15:guide>
        <p15:guide id="3" pos="126" userDrawn="1">
          <p15:clr>
            <a:srgbClr val="FBAE40"/>
          </p15:clr>
        </p15:guide>
        <p15:guide id="5" orient="horz" pos="123" userDrawn="1">
          <p15:clr>
            <a:srgbClr val="FBAE40"/>
          </p15:clr>
        </p15:guide>
        <p15:guide id="6" orient="horz" pos="3117" userDrawn="1">
          <p15:clr>
            <a:srgbClr val="FBAE40"/>
          </p15:clr>
        </p15:guide>
        <p15:guide id="7" pos="839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4A9F6C81-AE59-DE44-BF60-E773080CD91C}"/>
              </a:ext>
            </a:extLst>
          </p:cNvPr>
          <p:cNvSpPr/>
          <p:nvPr userDrawn="1"/>
        </p:nvSpPr>
        <p:spPr>
          <a:xfrm>
            <a:off x="4572000" y="0"/>
            <a:ext cx="4572000" cy="5143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latin typeface="Arial" panose="020B060402020202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0" y="777875"/>
            <a:ext cx="4058920" cy="1793875"/>
          </a:xfrm>
        </p:spPr>
        <p:txBody>
          <a:bodyPr anchor="ctr" anchorCtr="0">
            <a:normAutofit/>
          </a:bodyPr>
          <a:lstStyle>
            <a:lvl1pPr>
              <a:defRPr sz="3200">
                <a:solidFill>
                  <a:schemeClr val="bg1"/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0" y="2571750"/>
            <a:ext cx="4058920" cy="2156508"/>
          </a:xfrm>
        </p:spPr>
        <p:txBody>
          <a:bodyPr/>
          <a:lstStyle>
            <a:lvl1pPr marL="0" indent="0">
              <a:buNone/>
              <a:defRPr sz="1800">
                <a:solidFill>
                  <a:schemeClr val="bg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Modifier les styles du texte du masque
Deuxième niveau
Troisième niveau
Quatrième niveau
Cinquième niveau</a:t>
            </a:r>
          </a:p>
        </p:txBody>
      </p:sp>
      <p:sp>
        <p:nvSpPr>
          <p:cNvPr id="9" name="Espace réservé pour une image  8">
            <a:extLst>
              <a:ext uri="{FF2B5EF4-FFF2-40B4-BE49-F238E27FC236}">
                <a16:creationId xmlns:a16="http://schemas.microsoft.com/office/drawing/2014/main" id="{C58F136D-3292-C745-91DE-A21191C16FE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904875" y="0"/>
            <a:ext cx="3667125" cy="5143500"/>
          </a:xfrm>
        </p:spPr>
        <p:txBody>
          <a:bodyPr/>
          <a:lstStyle/>
          <a:p>
            <a:r>
              <a:rPr lang="fr-FR"/>
              <a:t>Cliquez sur l'icône pour ajouter une image</a:t>
            </a:r>
          </a:p>
        </p:txBody>
      </p:sp>
      <p:sp>
        <p:nvSpPr>
          <p:cNvPr id="12" name="Espace réservé de la date 11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r>
              <a:rPr lang="en-US"/>
              <a:t>MULTI-AGENT SYSTEM</a:t>
            </a:r>
            <a:endParaRPr lang="fr-FR"/>
          </a:p>
        </p:txBody>
      </p:sp>
      <p:sp>
        <p:nvSpPr>
          <p:cNvPr id="13" name="Espace réservé du pied de page 12"/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fr-FR"/>
          </a:p>
        </p:txBody>
      </p:sp>
      <p:sp>
        <p:nvSpPr>
          <p:cNvPr id="14" name="Espace réservé du numéro de diapositive 13"/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E1E1CD7C-2161-7D43-862E-CE4C333CD873}" type="slidenum">
              <a:rPr lang="fr-FR" smtClean="0"/>
              <a:pPr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888642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4A9F6C81-AE59-DE44-BF60-E773080CD91C}"/>
              </a:ext>
            </a:extLst>
          </p:cNvPr>
          <p:cNvSpPr/>
          <p:nvPr userDrawn="1"/>
        </p:nvSpPr>
        <p:spPr>
          <a:xfrm>
            <a:off x="4572000" y="0"/>
            <a:ext cx="4572000" cy="51435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latin typeface="Arial" panose="020B060402020202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0" y="777875"/>
            <a:ext cx="4058920" cy="1793875"/>
          </a:xfrm>
        </p:spPr>
        <p:txBody>
          <a:bodyPr anchor="ctr" anchorCtr="0">
            <a:normAutofit/>
          </a:bodyPr>
          <a:lstStyle>
            <a:lvl1pPr>
              <a:defRPr sz="3200">
                <a:solidFill>
                  <a:schemeClr val="bg1"/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0" y="2571750"/>
            <a:ext cx="4058920" cy="2156508"/>
          </a:xfrm>
        </p:spPr>
        <p:txBody>
          <a:bodyPr/>
          <a:lstStyle>
            <a:lvl1pPr marL="0" indent="0">
              <a:buNone/>
              <a:defRPr sz="1800">
                <a:solidFill>
                  <a:schemeClr val="bg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Modifier les styles du texte du masque
Deuxième niveau
Troisième niveau
Quatrième niveau
Cinquième niveau</a:t>
            </a:r>
          </a:p>
        </p:txBody>
      </p:sp>
      <p:sp>
        <p:nvSpPr>
          <p:cNvPr id="9" name="Espace réservé pour une image  8">
            <a:extLst>
              <a:ext uri="{FF2B5EF4-FFF2-40B4-BE49-F238E27FC236}">
                <a16:creationId xmlns:a16="http://schemas.microsoft.com/office/drawing/2014/main" id="{C58F136D-3292-C745-91DE-A21191C16FE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904875" y="0"/>
            <a:ext cx="3667125" cy="5143500"/>
          </a:xfrm>
        </p:spPr>
        <p:txBody>
          <a:bodyPr/>
          <a:lstStyle/>
          <a:p>
            <a:r>
              <a:rPr lang="fr-FR"/>
              <a:t>Cliquez sur l'icône pour ajouter une image</a:t>
            </a:r>
          </a:p>
        </p:txBody>
      </p:sp>
      <p:sp>
        <p:nvSpPr>
          <p:cNvPr id="12" name="Espace réservé de la date 11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r>
              <a:rPr lang="en-US"/>
              <a:t>MULTI-AGENT SYSTEM</a:t>
            </a:r>
            <a:endParaRPr lang="fr-FR"/>
          </a:p>
        </p:txBody>
      </p:sp>
      <p:sp>
        <p:nvSpPr>
          <p:cNvPr id="13" name="Espace réservé du pied de page 12"/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fr-FR"/>
          </a:p>
        </p:txBody>
      </p:sp>
      <p:sp>
        <p:nvSpPr>
          <p:cNvPr id="14" name="Espace réservé du numéro de diapositive 13"/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E1E1CD7C-2161-7D43-862E-CE4C333CD873}" type="slidenum">
              <a:rPr lang="fr-FR" smtClean="0"/>
              <a:pPr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681773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4A9F6C81-AE59-DE44-BF60-E773080CD91C}"/>
              </a:ext>
            </a:extLst>
          </p:cNvPr>
          <p:cNvSpPr/>
          <p:nvPr userDrawn="1"/>
        </p:nvSpPr>
        <p:spPr>
          <a:xfrm>
            <a:off x="4572000" y="0"/>
            <a:ext cx="4572000" cy="51435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latin typeface="Arial" panose="020B060402020202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0" y="777875"/>
            <a:ext cx="4058920" cy="1793875"/>
          </a:xfrm>
        </p:spPr>
        <p:txBody>
          <a:bodyPr anchor="ctr" anchorCtr="0">
            <a:normAutofit/>
          </a:bodyPr>
          <a:lstStyle>
            <a:lvl1pPr>
              <a:defRPr sz="3200">
                <a:solidFill>
                  <a:schemeClr val="bg1"/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0" y="2571750"/>
            <a:ext cx="4058920" cy="2156508"/>
          </a:xfrm>
        </p:spPr>
        <p:txBody>
          <a:bodyPr/>
          <a:lstStyle>
            <a:lvl1pPr marL="0" indent="0">
              <a:buNone/>
              <a:defRPr sz="1800">
                <a:solidFill>
                  <a:schemeClr val="bg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Modifier les styles du texte du masque
Deuxième niveau
Troisième niveau
Quatrième niveau
Cinquième niveau</a:t>
            </a:r>
          </a:p>
        </p:txBody>
      </p:sp>
      <p:sp>
        <p:nvSpPr>
          <p:cNvPr id="9" name="Espace réservé pour une image  8">
            <a:extLst>
              <a:ext uri="{FF2B5EF4-FFF2-40B4-BE49-F238E27FC236}">
                <a16:creationId xmlns:a16="http://schemas.microsoft.com/office/drawing/2014/main" id="{C58F136D-3292-C745-91DE-A21191C16FE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904875" y="0"/>
            <a:ext cx="3667125" cy="5143500"/>
          </a:xfrm>
        </p:spPr>
        <p:txBody>
          <a:bodyPr/>
          <a:lstStyle/>
          <a:p>
            <a:r>
              <a:rPr lang="fr-FR"/>
              <a:t>Cliquez sur l'icône pour ajouter une image</a:t>
            </a:r>
          </a:p>
        </p:txBody>
      </p:sp>
      <p:sp>
        <p:nvSpPr>
          <p:cNvPr id="8" name="Espace réservé de la date 7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r>
              <a:rPr lang="en-US"/>
              <a:t>MULTI-AGENT SYSTEM</a:t>
            </a:r>
            <a:endParaRPr lang="fr-FR"/>
          </a:p>
        </p:txBody>
      </p:sp>
      <p:sp>
        <p:nvSpPr>
          <p:cNvPr id="10" name="Espace réservé du pied de page 9"/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fr-FR"/>
          </a:p>
        </p:txBody>
      </p:sp>
      <p:sp>
        <p:nvSpPr>
          <p:cNvPr id="11" name="Espace réservé du numéro de diapositive 10"/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E1E1CD7C-2161-7D43-862E-CE4C333CD873}" type="slidenum">
              <a:rPr lang="fr-FR" smtClean="0"/>
              <a:pPr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322296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Modifier les styles du texte du masque
Deuxième niveau
Troisième niveau
Quatrième niveau
Cinquième niveau</a:t>
            </a:r>
          </a:p>
        </p:txBody>
      </p:sp>
      <p:sp>
        <p:nvSpPr>
          <p:cNvPr id="8" name="Titre 7">
            <a:extLst>
              <a:ext uri="{FF2B5EF4-FFF2-40B4-BE49-F238E27FC236}">
                <a16:creationId xmlns:a16="http://schemas.microsoft.com/office/drawing/2014/main" id="{A30C78BE-DAD0-D748-8B93-AD898D00C8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9" name="Espace réservé de la date 8">
            <a:extLst>
              <a:ext uri="{FF2B5EF4-FFF2-40B4-BE49-F238E27FC236}">
                <a16:creationId xmlns:a16="http://schemas.microsoft.com/office/drawing/2014/main" id="{131A8490-33AC-9443-A9FC-9A5E932296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MULTI-AGENT SYSTEM</a:t>
            </a:r>
            <a:endParaRPr lang="fr-FR"/>
          </a:p>
        </p:txBody>
      </p:sp>
      <p:sp>
        <p:nvSpPr>
          <p:cNvPr id="10" name="Espace réservé du pied de page 9">
            <a:extLst>
              <a:ext uri="{FF2B5EF4-FFF2-40B4-BE49-F238E27FC236}">
                <a16:creationId xmlns:a16="http://schemas.microsoft.com/office/drawing/2014/main" id="{B875139C-6471-774D-89EF-2B93FAD2CB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11" name="Espace réservé du numéro de diapositive 10">
            <a:extLst>
              <a:ext uri="{FF2B5EF4-FFF2-40B4-BE49-F238E27FC236}">
                <a16:creationId xmlns:a16="http://schemas.microsoft.com/office/drawing/2014/main" id="{3942AF23-4BDC-8C4A-9212-AF88439C61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E1CD7C-2161-7D43-862E-CE4C333CD873}" type="slidenum">
              <a:rPr lang="fr-FR" smtClean="0"/>
              <a:pPr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3696279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04875" y="1563688"/>
            <a:ext cx="4581525" cy="3386772"/>
          </a:xfrm>
        </p:spPr>
        <p:txBody>
          <a:bodyPr/>
          <a:lstStyle/>
          <a:p>
            <a:pPr lvl="0"/>
            <a:r>
              <a:rPr lang="fr-FR"/>
              <a:t>Modifier les styles du texte du masque
Deuxième niveau
Troisième niveau
Quatrième niveau
Cinquième niveau</a:t>
            </a:r>
          </a:p>
        </p:txBody>
      </p:sp>
      <p:sp>
        <p:nvSpPr>
          <p:cNvPr id="8" name="Espace réservé pour une image  7">
            <a:extLst>
              <a:ext uri="{FF2B5EF4-FFF2-40B4-BE49-F238E27FC236}">
                <a16:creationId xmlns:a16="http://schemas.microsoft.com/office/drawing/2014/main" id="{70ED9B2D-C513-AF40-B94F-355C174B8FF0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486400" y="0"/>
            <a:ext cx="3144838" cy="5143500"/>
          </a:xfrm>
        </p:spPr>
        <p:txBody>
          <a:bodyPr/>
          <a:lstStyle/>
          <a:p>
            <a:r>
              <a:rPr lang="fr-FR"/>
              <a:t>Cliquez sur l'icône pour ajouter une image</a:t>
            </a:r>
          </a:p>
        </p:txBody>
      </p:sp>
      <p:sp>
        <p:nvSpPr>
          <p:cNvPr id="5" name="Titre 4">
            <a:extLst>
              <a:ext uri="{FF2B5EF4-FFF2-40B4-BE49-F238E27FC236}">
                <a16:creationId xmlns:a16="http://schemas.microsoft.com/office/drawing/2014/main" id="{55F20A3C-6DA6-684F-8F84-A7C8F1339C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6" name="Espace réservé de la date 5">
            <a:extLst>
              <a:ext uri="{FF2B5EF4-FFF2-40B4-BE49-F238E27FC236}">
                <a16:creationId xmlns:a16="http://schemas.microsoft.com/office/drawing/2014/main" id="{B633A2CC-2D27-AE47-AE09-87A5F61228B8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r>
              <a:rPr lang="en-US"/>
              <a:t>MULTI-AGENT SYSTEM</a:t>
            </a:r>
            <a:endParaRPr lang="fr-FR"/>
          </a:p>
        </p:txBody>
      </p:sp>
      <p:sp>
        <p:nvSpPr>
          <p:cNvPr id="11" name="Espace réservé du pied de page 10">
            <a:extLst>
              <a:ext uri="{FF2B5EF4-FFF2-40B4-BE49-F238E27FC236}">
                <a16:creationId xmlns:a16="http://schemas.microsoft.com/office/drawing/2014/main" id="{CABC000E-4E22-1A40-9D3F-FE2F141E5CA4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12" name="Espace réservé du numéro de diapositive 11">
            <a:extLst>
              <a:ext uri="{FF2B5EF4-FFF2-40B4-BE49-F238E27FC236}">
                <a16:creationId xmlns:a16="http://schemas.microsoft.com/office/drawing/2014/main" id="{0AF49D93-C78A-F646-92B0-A7932C43D9EE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E1E1CD7C-2161-7D43-862E-CE4C333CD873}" type="slidenum">
              <a:rPr lang="fr-FR" smtClean="0"/>
              <a:pPr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431849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Espace réservé pour une image  7">
            <a:extLst>
              <a:ext uri="{FF2B5EF4-FFF2-40B4-BE49-F238E27FC236}">
                <a16:creationId xmlns:a16="http://schemas.microsoft.com/office/drawing/2014/main" id="{70ED9B2D-C513-AF40-B94F-355C174B8FF0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904875" y="0"/>
            <a:ext cx="3144838" cy="5143500"/>
          </a:xfrm>
        </p:spPr>
        <p:txBody>
          <a:bodyPr/>
          <a:lstStyle/>
          <a:p>
            <a:r>
              <a:rPr lang="fr-FR"/>
              <a:t>Cliquez sur l'icône pour ajouter une image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049395" y="1563688"/>
            <a:ext cx="4581525" cy="3386772"/>
          </a:xfrm>
        </p:spPr>
        <p:txBody>
          <a:bodyPr/>
          <a:lstStyle/>
          <a:p>
            <a:pPr lvl="0"/>
            <a:r>
              <a:rPr lang="fr-FR"/>
              <a:t>Modifier les styles du texte du masque
Deuxième niveau
Troisième niveau
Quatrième niveau
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A02A0D73-096C-844E-97C3-C4A4AF580FDE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r>
              <a:rPr lang="en-US"/>
              <a:t>MULTI-AGENT SYSTEM</a:t>
            </a:r>
            <a:endParaRPr lang="fr-FR"/>
          </a:p>
        </p:txBody>
      </p:sp>
      <p:sp>
        <p:nvSpPr>
          <p:cNvPr id="9" name="Espace réservé du pied de page 8">
            <a:extLst>
              <a:ext uri="{FF2B5EF4-FFF2-40B4-BE49-F238E27FC236}">
                <a16:creationId xmlns:a16="http://schemas.microsoft.com/office/drawing/2014/main" id="{CEF5AC5C-A2B6-2848-8C47-96A168E211D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10" name="Espace réservé du numéro de diapositive 9">
            <a:extLst>
              <a:ext uri="{FF2B5EF4-FFF2-40B4-BE49-F238E27FC236}">
                <a16:creationId xmlns:a16="http://schemas.microsoft.com/office/drawing/2014/main" id="{31B90E33-03D8-2143-B49F-B1474EE1A1F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E1E1CD7C-2161-7D43-862E-CE4C333CD873}" type="slidenum">
              <a:rPr lang="fr-FR" smtClean="0"/>
              <a:pPr/>
              <a:t>‹#›</a:t>
            </a:fld>
            <a:endParaRPr lang="fr-FR"/>
          </a:p>
        </p:txBody>
      </p:sp>
      <p:sp>
        <p:nvSpPr>
          <p:cNvPr id="11" name="Titre 10">
            <a:extLst>
              <a:ext uri="{FF2B5EF4-FFF2-40B4-BE49-F238E27FC236}">
                <a16:creationId xmlns:a16="http://schemas.microsoft.com/office/drawing/2014/main" id="{3FC7B5EC-066E-EC4A-B320-77DF64E6E0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4876" y="131032"/>
            <a:ext cx="3144520" cy="107275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</p:spTree>
    <p:extLst>
      <p:ext uri="{BB962C8B-B14F-4D97-AF65-F5344CB8AC3E}">
        <p14:creationId xmlns:p14="http://schemas.microsoft.com/office/powerpoint/2010/main" val="16989589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Espace réservé pour une image  7">
            <a:extLst>
              <a:ext uri="{FF2B5EF4-FFF2-40B4-BE49-F238E27FC236}">
                <a16:creationId xmlns:a16="http://schemas.microsoft.com/office/drawing/2014/main" id="{70ED9B2D-C513-AF40-B94F-355C174B8FF0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904875" y="0"/>
            <a:ext cx="3144838" cy="5143500"/>
          </a:xfrm>
        </p:spPr>
        <p:txBody>
          <a:bodyPr/>
          <a:lstStyle/>
          <a:p>
            <a:r>
              <a:rPr lang="fr-FR"/>
              <a:t>Cliquez sur l'icône pour ajouter une image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049395" y="1563688"/>
            <a:ext cx="4581525" cy="3386772"/>
          </a:xfrm>
        </p:spPr>
        <p:txBody>
          <a:bodyPr/>
          <a:lstStyle/>
          <a:p>
            <a:pPr lvl="0"/>
            <a:r>
              <a:rPr lang="fr-FR"/>
              <a:t>Modifier les styles du texte du masque
Deuxième niveau
Troisième niveau
Quatrième niveau
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A02A0D73-096C-844E-97C3-C4A4AF580FDE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r>
              <a:rPr lang="en-US"/>
              <a:t>MULTI-AGENT SYSTEM</a:t>
            </a:r>
            <a:endParaRPr lang="fr-FR"/>
          </a:p>
        </p:txBody>
      </p:sp>
      <p:sp>
        <p:nvSpPr>
          <p:cNvPr id="9" name="Espace réservé du pied de page 8">
            <a:extLst>
              <a:ext uri="{FF2B5EF4-FFF2-40B4-BE49-F238E27FC236}">
                <a16:creationId xmlns:a16="http://schemas.microsoft.com/office/drawing/2014/main" id="{CEF5AC5C-A2B6-2848-8C47-96A168E211D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10" name="Espace réservé du numéro de diapositive 9">
            <a:extLst>
              <a:ext uri="{FF2B5EF4-FFF2-40B4-BE49-F238E27FC236}">
                <a16:creationId xmlns:a16="http://schemas.microsoft.com/office/drawing/2014/main" id="{31B90E33-03D8-2143-B49F-B1474EE1A1F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E1E1CD7C-2161-7D43-862E-CE4C333CD873}" type="slidenum">
              <a:rPr lang="fr-FR" smtClean="0"/>
              <a:pPr/>
              <a:t>‹#›</a:t>
            </a:fld>
            <a:endParaRPr lang="fr-FR"/>
          </a:p>
        </p:txBody>
      </p:sp>
      <p:sp>
        <p:nvSpPr>
          <p:cNvPr id="11" name="Titre 10">
            <a:extLst>
              <a:ext uri="{FF2B5EF4-FFF2-40B4-BE49-F238E27FC236}">
                <a16:creationId xmlns:a16="http://schemas.microsoft.com/office/drawing/2014/main" id="{3FC7B5EC-066E-EC4A-B320-77DF64E6E0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49395" y="131032"/>
            <a:ext cx="3144520" cy="107275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</p:spTree>
    <p:extLst>
      <p:ext uri="{BB962C8B-B14F-4D97-AF65-F5344CB8AC3E}">
        <p14:creationId xmlns:p14="http://schemas.microsoft.com/office/powerpoint/2010/main" val="25314277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Espace réservé pour une image  7">
            <a:extLst>
              <a:ext uri="{FF2B5EF4-FFF2-40B4-BE49-F238E27FC236}">
                <a16:creationId xmlns:a16="http://schemas.microsoft.com/office/drawing/2014/main" id="{70ED9B2D-C513-AF40-B94F-355C174B8FF0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904875" y="1563688"/>
            <a:ext cx="3144838" cy="3579812"/>
          </a:xfrm>
        </p:spPr>
        <p:txBody>
          <a:bodyPr/>
          <a:lstStyle/>
          <a:p>
            <a:r>
              <a:rPr lang="fr-FR"/>
              <a:t>Cliquez sur l'icône pour ajouter une image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049395" y="1563688"/>
            <a:ext cx="4581525" cy="3386772"/>
          </a:xfrm>
        </p:spPr>
        <p:txBody>
          <a:bodyPr/>
          <a:lstStyle/>
          <a:p>
            <a:pPr lvl="0"/>
            <a:r>
              <a:rPr lang="fr-FR"/>
              <a:t>Modifier les styles du texte du masque
Deuxième niveau
Troisième niveau
Quatrième niveau
Cinquième niveau</a:t>
            </a:r>
          </a:p>
        </p:txBody>
      </p:sp>
      <p:sp>
        <p:nvSpPr>
          <p:cNvPr id="7" name="Titre 6">
            <a:extLst>
              <a:ext uri="{FF2B5EF4-FFF2-40B4-BE49-F238E27FC236}">
                <a16:creationId xmlns:a16="http://schemas.microsoft.com/office/drawing/2014/main" id="{C026A30B-6F8E-1445-88F0-A5FB77E124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9" name="Espace réservé de la date 8">
            <a:extLst>
              <a:ext uri="{FF2B5EF4-FFF2-40B4-BE49-F238E27FC236}">
                <a16:creationId xmlns:a16="http://schemas.microsoft.com/office/drawing/2014/main" id="{826567D5-4A83-9E48-B441-CCB2A72BA6D1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r>
              <a:rPr lang="en-US"/>
              <a:t>MULTI-AGENT SYSTEM</a:t>
            </a:r>
            <a:endParaRPr lang="fr-FR"/>
          </a:p>
        </p:txBody>
      </p:sp>
      <p:sp>
        <p:nvSpPr>
          <p:cNvPr id="10" name="Espace réservé du pied de page 9">
            <a:extLst>
              <a:ext uri="{FF2B5EF4-FFF2-40B4-BE49-F238E27FC236}">
                <a16:creationId xmlns:a16="http://schemas.microsoft.com/office/drawing/2014/main" id="{C830A539-93F1-2541-B9F0-330893BD5190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11" name="Espace réservé du numéro de diapositive 10">
            <a:extLst>
              <a:ext uri="{FF2B5EF4-FFF2-40B4-BE49-F238E27FC236}">
                <a16:creationId xmlns:a16="http://schemas.microsoft.com/office/drawing/2014/main" id="{82F21D18-8706-7E4D-8FBE-C1E2584541D1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E1E1CD7C-2161-7D43-862E-CE4C333CD873}" type="slidenum">
              <a:rPr lang="fr-FR" smtClean="0"/>
              <a:pPr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345452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04875" y="1563688"/>
            <a:ext cx="3671466" cy="3263504"/>
          </a:xfrm>
        </p:spPr>
        <p:txBody>
          <a:bodyPr/>
          <a:lstStyle/>
          <a:p>
            <a:pPr lvl="0"/>
            <a:r>
              <a:rPr lang="fr-FR"/>
              <a:t>Modifier les styles du texte du masque
Deuxième niveau
Troisième niveau
Quatrième niveau
Cinquième niveau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959772" y="1563688"/>
            <a:ext cx="3671466" cy="3263504"/>
          </a:xfrm>
        </p:spPr>
        <p:txBody>
          <a:bodyPr/>
          <a:lstStyle/>
          <a:p>
            <a:pPr lvl="0"/>
            <a:r>
              <a:rPr lang="fr-FR"/>
              <a:t>Modifier les styles du texte du masque
Deuxième niveau
Troisième niveau
Quatrième niveau
Cinquième niveau</a:t>
            </a:r>
          </a:p>
        </p:txBody>
      </p:sp>
      <p:sp>
        <p:nvSpPr>
          <p:cNvPr id="8" name="Titre 7">
            <a:extLst>
              <a:ext uri="{FF2B5EF4-FFF2-40B4-BE49-F238E27FC236}">
                <a16:creationId xmlns:a16="http://schemas.microsoft.com/office/drawing/2014/main" id="{6897D737-724C-984A-82E1-2A2DBD5F62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9" name="Espace réservé de la date 8">
            <a:extLst>
              <a:ext uri="{FF2B5EF4-FFF2-40B4-BE49-F238E27FC236}">
                <a16:creationId xmlns:a16="http://schemas.microsoft.com/office/drawing/2014/main" id="{E34C2B73-67B7-BB4C-AE0F-7D16D8DDD2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MULTI-AGENT SYSTEM</a:t>
            </a:r>
            <a:endParaRPr lang="fr-FR"/>
          </a:p>
        </p:txBody>
      </p:sp>
      <p:sp>
        <p:nvSpPr>
          <p:cNvPr id="10" name="Espace réservé du pied de page 9">
            <a:extLst>
              <a:ext uri="{FF2B5EF4-FFF2-40B4-BE49-F238E27FC236}">
                <a16:creationId xmlns:a16="http://schemas.microsoft.com/office/drawing/2014/main" id="{C9FF6AA9-AC16-D748-B815-56221BFFFB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11" name="Espace réservé du numéro de diapositive 10">
            <a:extLst>
              <a:ext uri="{FF2B5EF4-FFF2-40B4-BE49-F238E27FC236}">
                <a16:creationId xmlns:a16="http://schemas.microsoft.com/office/drawing/2014/main" id="{DD59D891-3F23-D04C-AB43-6FA4220AFE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E1CD7C-2161-7D43-862E-CE4C333CD873}" type="slidenum">
              <a:rPr lang="fr-FR" smtClean="0"/>
              <a:pPr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7767062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re 5">
            <a:extLst>
              <a:ext uri="{FF2B5EF4-FFF2-40B4-BE49-F238E27FC236}">
                <a16:creationId xmlns:a16="http://schemas.microsoft.com/office/drawing/2014/main" id="{9BFFD8D9-6AAA-B44F-8BD5-98D7A6546A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084C64CE-C88F-2044-AD84-19F588F189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MULTI-AGENT SYSTEM</a:t>
            </a:r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A948AF20-C2DF-3542-BB6A-8354A98173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71083942-1443-BC45-9F95-32C82A8DCD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E1CD7C-2161-7D43-862E-CE4C333CD873}" type="slidenum">
              <a:rPr lang="fr-FR" smtClean="0"/>
              <a:pPr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7403935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Espace réservé pour une image  6">
            <a:extLst>
              <a:ext uri="{FF2B5EF4-FFF2-40B4-BE49-F238E27FC236}">
                <a16:creationId xmlns:a16="http://schemas.microsoft.com/office/drawing/2014/main" id="{625DAC6D-23F0-6941-BE81-E7A79CA3AFFD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904875" y="0"/>
            <a:ext cx="8239125" cy="5143500"/>
          </a:xfrm>
        </p:spPr>
        <p:txBody>
          <a:bodyPr/>
          <a:lstStyle/>
          <a:p>
            <a:r>
              <a:rPr lang="fr-FR"/>
              <a:t>Cliquez sur l'icône pour ajouter une image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5563" y="2571750"/>
            <a:ext cx="2738437" cy="2111375"/>
          </a:xfrm>
          <a:solidFill>
            <a:schemeClr val="accent2"/>
          </a:solidFill>
        </p:spPr>
        <p:txBody>
          <a:bodyPr anchor="ctr" anchorCtr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en-US"/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60E5EA1C-63CE-2C4F-B9F4-39FDBC14B9A3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r>
              <a:rPr lang="en-US"/>
              <a:t>MULTI-AGENT SYSTEM</a:t>
            </a:r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8E7A5892-F23D-BD48-84D1-FD279BA16865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6C516D46-C7BB-2141-A4EE-18D1756414F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E1E1CD7C-2161-7D43-862E-CE4C333CD873}" type="slidenum">
              <a:rPr lang="fr-FR" smtClean="0"/>
              <a:pPr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4094835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Espace réservé pour une image  6">
            <a:extLst>
              <a:ext uri="{FF2B5EF4-FFF2-40B4-BE49-F238E27FC236}">
                <a16:creationId xmlns:a16="http://schemas.microsoft.com/office/drawing/2014/main" id="{625DAC6D-23F0-6941-BE81-E7A79CA3AFFD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904875" y="0"/>
            <a:ext cx="7726363" cy="5143500"/>
          </a:xfrm>
        </p:spPr>
        <p:txBody>
          <a:bodyPr/>
          <a:lstStyle/>
          <a:p>
            <a:r>
              <a:rPr lang="fr-FR"/>
              <a:t>Cliquez sur l'icône pour ajouter une image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91E6F4EB-CC02-6E4D-9146-CE4A7A789A95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r>
              <a:rPr lang="en-US"/>
              <a:t>MULTI-AGENT SYSTEM</a:t>
            </a:r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DED4AA2C-29B3-CA42-B7C3-C932911A7586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8" name="Espace réservé du numéro de diapositive 7">
            <a:extLst>
              <a:ext uri="{FF2B5EF4-FFF2-40B4-BE49-F238E27FC236}">
                <a16:creationId xmlns:a16="http://schemas.microsoft.com/office/drawing/2014/main" id="{0FE7A1E3-AAEC-7641-B6C5-8D9FC0B6A211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E1E1CD7C-2161-7D43-862E-CE4C333CD873}" type="slidenum">
              <a:rPr lang="fr-FR" smtClean="0"/>
              <a:pPr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0172720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Espace réservé pour une image  6">
            <a:extLst>
              <a:ext uri="{FF2B5EF4-FFF2-40B4-BE49-F238E27FC236}">
                <a16:creationId xmlns:a16="http://schemas.microsoft.com/office/drawing/2014/main" id="{625DAC6D-23F0-6941-BE81-E7A79CA3AFFD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904875" y="3114674"/>
            <a:ext cx="8239125" cy="2028825"/>
          </a:xfrm>
        </p:spPr>
        <p:txBody>
          <a:bodyPr/>
          <a:lstStyle/>
          <a:p>
            <a:r>
              <a:rPr lang="fr-FR"/>
              <a:t>Cliquez sur l'icône pour ajouter une image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quarter" idx="17"/>
          </p:nvPr>
        </p:nvSpPr>
        <p:spPr>
          <a:xfrm>
            <a:off x="904875" y="1563688"/>
            <a:ext cx="7646988" cy="1436687"/>
          </a:xfrm>
        </p:spPr>
        <p:txBody>
          <a:bodyPr/>
          <a:lstStyle>
            <a:lvl4pPr>
              <a:defRPr>
                <a:latin typeface="Arial" panose="020B0604020202020204" pitchFamily="34" charset="0"/>
              </a:defRPr>
            </a:lvl4pPr>
            <a:lvl5pPr>
              <a:defRPr>
                <a:latin typeface="Arial" panose="020B0604020202020204" pitchFamily="34" charset="0"/>
              </a:defRPr>
            </a:lvl5pPr>
          </a:lstStyle>
          <a:p>
            <a:pPr lvl="0"/>
            <a:r>
              <a:rPr lang="fr-FR"/>
              <a:t>Modifier les styles du texte du masque
Deuxième niveau
Troisième niveau
Quatrième niveau
Cinquième niveau</a:t>
            </a:r>
            <a:endParaRPr lang="fr-CH"/>
          </a:p>
        </p:txBody>
      </p:sp>
      <p:sp>
        <p:nvSpPr>
          <p:cNvPr id="6" name="Espace réservé de la date 5">
            <a:extLst>
              <a:ext uri="{FF2B5EF4-FFF2-40B4-BE49-F238E27FC236}">
                <a16:creationId xmlns:a16="http://schemas.microsoft.com/office/drawing/2014/main" id="{37CF3032-2465-874C-B786-95E1B594A5AB}"/>
              </a:ext>
            </a:extLst>
          </p:cNvPr>
          <p:cNvSpPr>
            <a:spLocks noGrp="1"/>
          </p:cNvSpPr>
          <p:nvPr>
            <p:ph type="dt" sz="half" idx="18"/>
          </p:nvPr>
        </p:nvSpPr>
        <p:spPr/>
        <p:txBody>
          <a:bodyPr/>
          <a:lstStyle/>
          <a:p>
            <a:r>
              <a:rPr lang="en-US"/>
              <a:t>MULTI-AGENT SYSTEM</a:t>
            </a:r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AAF73E2A-22D7-894A-9267-185CB4E4B13E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39D9777C-EC90-1141-9E30-4B4F669C2BE1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fld id="{E1E1CD7C-2161-7D43-862E-CE4C333CD873}" type="slidenum">
              <a:rPr lang="fr-FR" smtClean="0"/>
              <a:pPr/>
              <a:t>‹#›</a:t>
            </a:fld>
            <a:endParaRPr lang="fr-FR"/>
          </a:p>
        </p:txBody>
      </p:sp>
      <p:sp>
        <p:nvSpPr>
          <p:cNvPr id="11" name="Titre 10">
            <a:extLst>
              <a:ext uri="{FF2B5EF4-FFF2-40B4-BE49-F238E27FC236}">
                <a16:creationId xmlns:a16="http://schemas.microsoft.com/office/drawing/2014/main" id="{0E011164-727C-4C46-B34E-7729CB350E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</p:spTree>
    <p:extLst>
      <p:ext uri="{BB962C8B-B14F-4D97-AF65-F5344CB8AC3E}">
        <p14:creationId xmlns:p14="http://schemas.microsoft.com/office/powerpoint/2010/main" val="353115612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4D8101AB-8ACE-BB4C-9D61-B4AABFE115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MULTI-AGENT SYSTEM</a:t>
            </a:r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5F9CFC1D-0B2A-0A4E-9C0D-682EECA557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56622065-A833-2340-B0FD-ACB065A3B8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E1CD7C-2161-7D43-862E-CE4C333CD873}" type="slidenum">
              <a:rPr lang="fr-FR" smtClean="0"/>
              <a:pPr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948407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04875" y="131032"/>
            <a:ext cx="3667125" cy="1072753"/>
          </a:xfrm>
          <a:prstGeom prst="rect">
            <a:avLst/>
          </a:prstGeom>
        </p:spPr>
        <p:txBody>
          <a:bodyPr vert="horz" lIns="180000" tIns="0" rIns="72000" bIns="46800" rtlCol="0" anchor="t">
            <a:normAutofit/>
          </a:bodyPr>
          <a:lstStyle/>
          <a:p>
            <a:r>
              <a:rPr lang="fr-FR"/>
              <a:t>Modifiez le style du titre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04875" y="1563688"/>
            <a:ext cx="7726363" cy="3386772"/>
          </a:xfrm>
          <a:prstGeom prst="rect">
            <a:avLst/>
          </a:prstGeom>
        </p:spPr>
        <p:txBody>
          <a:bodyPr vert="horz" lIns="180000" tIns="45720" rIns="91440" bIns="45720" rtlCol="0">
            <a:normAutofit/>
          </a:bodyPr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
Quatrième niveau
Cinquième niveau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16200000">
            <a:off x="-1221413" y="2778452"/>
            <a:ext cx="3341052" cy="91152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00">
                <a:solidFill>
                  <a:schemeClr val="accent1"/>
                </a:solidFill>
                <a:latin typeface="Arial" panose="020B0604020202020204" pitchFamily="34" charset="0"/>
              </a:defRPr>
            </a:lvl1pPr>
          </a:lstStyle>
          <a:p>
            <a:r>
              <a:rPr lang="en-US"/>
              <a:t>MULTI-AGENT SYSTEM</a:t>
            </a:r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16200000">
            <a:off x="7115989" y="1874064"/>
            <a:ext cx="3543260" cy="51276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00">
                <a:solidFill>
                  <a:schemeClr val="tx1"/>
                </a:solidFill>
                <a:latin typeface="Arial" panose="020B0604020202020204" pitchFamily="34" charset="0"/>
              </a:defRPr>
            </a:lvl1pPr>
          </a:lstStyle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31238" y="195263"/>
            <a:ext cx="512762" cy="163552"/>
          </a:xfrm>
          <a:prstGeom prst="rect">
            <a:avLst/>
          </a:prstGeom>
        </p:spPr>
        <p:txBody>
          <a:bodyPr vert="horz" lIns="90000" tIns="0" rIns="90000" bIns="0" rtlCol="0" anchor="t"/>
          <a:lstStyle>
            <a:lvl1pPr algn="ctr">
              <a:defRPr sz="700" b="1">
                <a:solidFill>
                  <a:schemeClr val="tx1"/>
                </a:solidFill>
                <a:latin typeface="+mj-lt"/>
              </a:defRPr>
            </a:lvl1pPr>
          </a:lstStyle>
          <a:p>
            <a:fld id="{E1E1CD7C-2161-7D43-862E-CE4C333CD873}" type="slidenum">
              <a:rPr lang="fr-FR" smtClean="0"/>
              <a:pPr/>
              <a:t>‹#›</a:t>
            </a:fld>
            <a:endParaRPr lang="fr-FR"/>
          </a:p>
        </p:txBody>
      </p:sp>
      <p:pic>
        <p:nvPicPr>
          <p:cNvPr id="13" name="Image 12">
            <a:extLst>
              <a:ext uri="{FF2B5EF4-FFF2-40B4-BE49-F238E27FC236}">
                <a16:creationId xmlns:a16="http://schemas.microsoft.com/office/drawing/2014/main" id="{717E6E68-87EB-C34E-85D5-C26372DFEC99}"/>
              </a:ext>
            </a:extLst>
          </p:cNvPr>
          <p:cNvPicPr>
            <a:picLocks noChangeAspect="1"/>
          </p:cNvPicPr>
          <p:nvPr userDrawn="1"/>
        </p:nvPicPr>
        <p:blipFill>
          <a:blip r:embed="rId17"/>
          <a:stretch>
            <a:fillRect/>
          </a:stretch>
        </p:blipFill>
        <p:spPr>
          <a:xfrm>
            <a:off x="130273" y="132334"/>
            <a:ext cx="653952" cy="283022"/>
          </a:xfrm>
          <a:prstGeom prst="rect">
            <a:avLst/>
          </a:prstGeom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75D7A1C0-94CD-D94F-A99F-21847E542637}"/>
              </a:ext>
            </a:extLst>
          </p:cNvPr>
          <p:cNvSpPr/>
          <p:nvPr userDrawn="1"/>
        </p:nvSpPr>
        <p:spPr>
          <a:xfrm rot="16200000">
            <a:off x="430003" y="4897709"/>
            <a:ext cx="45719" cy="5978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694868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3" r:id="rId2"/>
    <p:sldLayoutId id="2147483681" r:id="rId3"/>
    <p:sldLayoutId id="2147483673" r:id="rId4"/>
    <p:sldLayoutId id="2147483662" r:id="rId5"/>
    <p:sldLayoutId id="2147483674" r:id="rId6"/>
    <p:sldLayoutId id="2147483675" r:id="rId7"/>
    <p:sldLayoutId id="2147483682" r:id="rId8"/>
    <p:sldLayoutId id="2147483676" r:id="rId9"/>
    <p:sldLayoutId id="2147483664" r:id="rId10"/>
    <p:sldLayoutId id="2147483666" r:id="rId11"/>
    <p:sldLayoutId id="2147483677" r:id="rId12"/>
    <p:sldLayoutId id="2147483678" r:id="rId13"/>
    <p:sldLayoutId id="2147483679" r:id="rId14"/>
    <p:sldLayoutId id="2147483667" r:id="rId15"/>
  </p:sldLayoutIdLst>
  <p:hf hdr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200" b="1" i="0" kern="1000" spc="-70" baseline="0">
          <a:solidFill>
            <a:schemeClr val="tx1"/>
          </a:solidFill>
          <a:latin typeface="Franklin Gothic Demi Cond" panose="020B0706030402020204" pitchFamily="34" charset="0"/>
          <a:ea typeface="Roboto Black" panose="02000000000000000000" pitchFamily="2" charset="0"/>
          <a:cs typeface="Arial" panose="020B0604020202020204" pitchFamily="34" charset="0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Clr>
          <a:schemeClr val="accent1"/>
        </a:buClr>
        <a:buSzPct val="90000"/>
        <a:buFont typeface="Wingdings" pitchFamily="2" charset="2"/>
        <a:buChar char="§"/>
        <a:defRPr sz="1800" b="0" i="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b="0" i="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SzPct val="90000"/>
        <a:buFont typeface="Wingdings" pitchFamily="2" charset="2"/>
        <a:buChar char="§"/>
        <a:defRPr sz="1500" b="0" i="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620" userDrawn="1">
          <p15:clr>
            <a:srgbClr val="F26B43"/>
          </p15:clr>
        </p15:guide>
        <p15:guide id="2" pos="126" userDrawn="1">
          <p15:clr>
            <a:srgbClr val="F26B43"/>
          </p15:clr>
        </p15:guide>
        <p15:guide id="3" pos="5602" userDrawn="1">
          <p15:clr>
            <a:srgbClr val="F26B43"/>
          </p15:clr>
        </p15:guide>
        <p15:guide id="4" pos="2880" userDrawn="1">
          <p15:clr>
            <a:srgbClr val="F26B43"/>
          </p15:clr>
        </p15:guide>
        <p15:guide id="5" orient="horz" pos="123" userDrawn="1">
          <p15:clr>
            <a:srgbClr val="F26B43"/>
          </p15:clr>
        </p15:guide>
        <p15:guide id="6" orient="horz" pos="3117" userDrawn="1">
          <p15:clr>
            <a:srgbClr val="F26B43"/>
          </p15:clr>
        </p15:guide>
        <p15:guide id="7" pos="570" userDrawn="1">
          <p15:clr>
            <a:srgbClr val="F26B43"/>
          </p15:clr>
        </p15:guide>
        <p15:guide id="8" pos="1155" userDrawn="1">
          <p15:clr>
            <a:srgbClr val="F26B43"/>
          </p15:clr>
        </p15:guide>
        <p15:guide id="9" pos="1728" userDrawn="1">
          <p15:clr>
            <a:srgbClr val="F26B43"/>
          </p15:clr>
        </p15:guide>
        <p15:guide id="10" pos="2304" userDrawn="1">
          <p15:clr>
            <a:srgbClr val="F26B43"/>
          </p15:clr>
        </p15:guide>
        <p15:guide id="11" pos="3456" userDrawn="1">
          <p15:clr>
            <a:srgbClr val="F26B43"/>
          </p15:clr>
        </p15:guide>
        <p15:guide id="12" pos="4035" userDrawn="1">
          <p15:clr>
            <a:srgbClr val="F26B43"/>
          </p15:clr>
        </p15:guide>
        <p15:guide id="13" pos="4608" userDrawn="1">
          <p15:clr>
            <a:srgbClr val="F26B43"/>
          </p15:clr>
        </p15:guide>
        <p15:guide id="14" pos="5180" userDrawn="1">
          <p15:clr>
            <a:srgbClr val="F26B43"/>
          </p15:clr>
        </p15:guide>
        <p15:guide id="15" orient="horz" pos="490" userDrawn="1">
          <p15:clr>
            <a:srgbClr val="F26B43"/>
          </p15:clr>
        </p15:guide>
        <p15:guide id="16" orient="horz" pos="985" userDrawn="1">
          <p15:clr>
            <a:srgbClr val="F26B43"/>
          </p15:clr>
        </p15:guide>
        <p15:guide id="17" orient="horz" pos="1475" userDrawn="1">
          <p15:clr>
            <a:srgbClr val="F26B43"/>
          </p15:clr>
        </p15:guide>
        <p15:guide id="18" orient="horz" pos="1962" userDrawn="1">
          <p15:clr>
            <a:srgbClr val="F26B43"/>
          </p15:clr>
        </p15:guide>
        <p15:guide id="19" orient="horz" pos="2458" userDrawn="1">
          <p15:clr>
            <a:srgbClr val="F26B43"/>
          </p15:clr>
        </p15:guide>
        <p15:guide id="20" orient="horz" pos="2950" userDrawn="1">
          <p15:clr>
            <a:srgbClr val="F26B43"/>
          </p15:clr>
        </p15:guide>
        <p15:guide id="21" pos="5437" userDrawn="1">
          <p15:clr>
            <a:srgbClr val="F26B43"/>
          </p15:clr>
        </p15:guide>
        <p15:guide id="22" orient="horz" userDrawn="1">
          <p15:clr>
            <a:srgbClr val="F26B43"/>
          </p15:clr>
        </p15:guide>
        <p15:guide id="23" pos="5760" userDrawn="1">
          <p15:clr>
            <a:srgbClr val="F26B43"/>
          </p15:clr>
        </p15:guide>
        <p15:guide id="24" orient="horz" pos="3240" userDrawn="1">
          <p15:clr>
            <a:srgbClr val="F26B43"/>
          </p15:clr>
        </p15:guide>
        <p15:guide id="25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3F145A39-66DD-0940-85FD-930F63046B02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70000"/>
          </a:blip>
          <a:stretch>
            <a:fillRect/>
          </a:stretch>
        </p:blipFill>
        <p:spPr>
          <a:xfrm>
            <a:off x="1395663" y="0"/>
            <a:ext cx="9144000" cy="5143500"/>
          </a:xfrm>
          <a:prstGeom prst="rect">
            <a:avLst/>
          </a:prstGeom>
        </p:spPr>
      </p:pic>
      <p:sp>
        <p:nvSpPr>
          <p:cNvPr id="3" name="Titre 2">
            <a:extLst>
              <a:ext uri="{FF2B5EF4-FFF2-40B4-BE49-F238E27FC236}">
                <a16:creationId xmlns:a16="http://schemas.microsoft.com/office/drawing/2014/main" id="{55A5C923-5A79-224D-A6A6-8267C64759A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78992" y="786535"/>
            <a:ext cx="2828544" cy="2338387"/>
          </a:xfrm>
        </p:spPr>
        <p:txBody>
          <a:bodyPr>
            <a:normAutofit/>
          </a:bodyPr>
          <a:lstStyle/>
          <a:p>
            <a:pPr algn="ctr"/>
            <a:r>
              <a:rPr lang="fr-FR" sz="3200" dirty="0" err="1"/>
              <a:t>RobustVLA</a:t>
            </a:r>
            <a:r>
              <a:rPr lang="fr-FR" sz="3200" dirty="0"/>
              <a:t> </a:t>
            </a:r>
            <a:br>
              <a:rPr lang="fr-FR" sz="3200" dirty="0"/>
            </a:br>
            <a:r>
              <a:rPr lang="fr-FR" sz="3200" dirty="0"/>
              <a:t>extension</a:t>
            </a:r>
          </a:p>
        </p:txBody>
      </p:sp>
      <p:sp>
        <p:nvSpPr>
          <p:cNvPr id="4" name="Sous-titre 3">
            <a:extLst>
              <a:ext uri="{FF2B5EF4-FFF2-40B4-BE49-F238E27FC236}">
                <a16:creationId xmlns:a16="http://schemas.microsoft.com/office/drawing/2014/main" id="{34F3CA74-E434-844A-9C90-0FE7EB8DBFC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906167" y="3116758"/>
            <a:ext cx="1968160" cy="1568450"/>
          </a:xfrm>
        </p:spPr>
        <p:txBody>
          <a:bodyPr/>
          <a:lstStyle/>
          <a:p>
            <a:pPr>
              <a:spcBef>
                <a:spcPts val="0"/>
              </a:spcBef>
            </a:pPr>
            <a:r>
              <a:rPr lang="en-GB" dirty="0"/>
              <a:t>Alix Papadatos</a:t>
            </a:r>
          </a:p>
          <a:p>
            <a:pPr>
              <a:spcBef>
                <a:spcPts val="0"/>
              </a:spcBef>
            </a:pPr>
            <a:r>
              <a:rPr lang="en-GB" dirty="0"/>
              <a:t>Florian Tanguy</a:t>
            </a:r>
          </a:p>
          <a:p>
            <a:pPr>
              <a:spcBef>
                <a:spcPts val="0"/>
              </a:spcBef>
            </a:pPr>
            <a:r>
              <a:rPr lang="fr-CH" dirty="0"/>
              <a:t>Mario Fernández Blanco</a:t>
            </a:r>
          </a:p>
          <a:p>
            <a:pPr>
              <a:spcBef>
                <a:spcPts val="0"/>
              </a:spcBef>
            </a:pPr>
            <a:r>
              <a:rPr lang="en-GB" dirty="0"/>
              <a:t>Tomas Garate Anderegg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BC3BCA55-E2C0-5C4E-89C0-5D85ED2FB439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2082800" y="4683125"/>
            <a:ext cx="1828800" cy="460375"/>
          </a:xfrm>
        </p:spPr>
        <p:txBody>
          <a:bodyPr/>
          <a:lstStyle/>
          <a:p>
            <a:r>
              <a:rPr lang="en-US" b="1" dirty="0"/>
              <a:t>09.04.2026</a:t>
            </a:r>
            <a:endParaRPr lang="fr-FR" b="1" dirty="0"/>
          </a:p>
        </p:txBody>
      </p:sp>
      <p:sp>
        <p:nvSpPr>
          <p:cNvPr id="6" name="Espace réservé du texte 5">
            <a:extLst>
              <a:ext uri="{FF2B5EF4-FFF2-40B4-BE49-F238E27FC236}">
                <a16:creationId xmlns:a16="http://schemas.microsoft.com/office/drawing/2014/main" id="{18A3154D-FCB0-A34B-BBBC-167C625558E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82549" y="4440264"/>
            <a:ext cx="795275" cy="507975"/>
          </a:xfrm>
        </p:spPr>
        <p:txBody>
          <a:bodyPr/>
          <a:lstStyle/>
          <a:p>
            <a:r>
              <a:rPr lang="fr-FR" dirty="0">
                <a:solidFill>
                  <a:schemeClr val="accent1"/>
                </a:solidFill>
              </a:rPr>
              <a:t>VILAB</a:t>
            </a:r>
          </a:p>
        </p:txBody>
      </p:sp>
    </p:spTree>
    <p:extLst>
      <p:ext uri="{BB962C8B-B14F-4D97-AF65-F5344CB8AC3E}">
        <p14:creationId xmlns:p14="http://schemas.microsoft.com/office/powerpoint/2010/main" val="4135279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5740AC-2207-C1D0-4962-CDC91EA4EA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1">
            <a:extLst>
              <a:ext uri="{FF2B5EF4-FFF2-40B4-BE49-F238E27FC236}">
                <a16:creationId xmlns:a16="http://schemas.microsoft.com/office/drawing/2014/main" id="{26E140FE-48C5-9BF7-F2D5-73BA97E570BE}"/>
              </a:ext>
            </a:extLst>
          </p:cNvPr>
          <p:cNvSpPr txBox="1">
            <a:spLocks/>
          </p:cNvSpPr>
          <p:nvPr/>
        </p:nvSpPr>
        <p:spPr>
          <a:xfrm>
            <a:off x="775543" y="1019571"/>
            <a:ext cx="7447707" cy="3663554"/>
          </a:xfrm>
          <a:prstGeom prst="rect">
            <a:avLst/>
          </a:prstGeom>
        </p:spPr>
        <p:txBody>
          <a:bodyPr vert="horz" lIns="180000" tIns="45720" rIns="91440" bIns="45720" rtlCol="0">
            <a:norm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Clr>
                <a:schemeClr val="accent1"/>
              </a:buClr>
              <a:buSzPct val="90000"/>
              <a:buFont typeface="Wingdings" pitchFamily="2" charset="2"/>
              <a:buChar char="§"/>
              <a:defRPr sz="1800" b="0" i="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600" b="0" i="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SzPct val="90000"/>
              <a:buFont typeface="Wingdings" pitchFamily="2" charset="2"/>
              <a:buChar char="§"/>
              <a:defRPr sz="1500" b="0" i="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CH" sz="1500" b="0" i="0" kern="1200" dirty="0"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VLA </a:t>
            </a:r>
            <a:r>
              <a:rPr lang="fr-CH" sz="1500" b="0" i="0" kern="1200" dirty="0" err="1"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models</a:t>
            </a:r>
            <a:r>
              <a:rPr lang="fr-CH" sz="1500" b="0" i="0" kern="1200" dirty="0"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are </a:t>
            </a:r>
            <a:r>
              <a:rPr lang="fr-CH" sz="1500" b="0" i="0" kern="1200" dirty="0" err="1"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trained</a:t>
            </a:r>
            <a:r>
              <a:rPr lang="fr-CH" sz="1500" b="0" i="0" kern="1200" dirty="0"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and </a:t>
            </a:r>
            <a:r>
              <a:rPr lang="fr-CH" sz="1500" b="0" i="0" kern="1200" dirty="0" err="1"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evaluated</a:t>
            </a:r>
            <a:r>
              <a:rPr lang="fr-CH" sz="1500" b="0" i="0" kern="1200" dirty="0"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</a:t>
            </a:r>
            <a:r>
              <a:rPr lang="fr-CH" sz="1500" b="0" i="0" kern="1200" dirty="0" err="1"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assuming</a:t>
            </a:r>
            <a:r>
              <a:rPr lang="fr-CH" sz="1500" b="0" i="0" kern="1200" dirty="0"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all </a:t>
            </a:r>
            <a:r>
              <a:rPr lang="fr-CH" sz="1500" b="0" i="0" kern="1200" dirty="0" err="1"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sensors</a:t>
            </a:r>
            <a:r>
              <a:rPr lang="fr-CH" sz="1500" b="0" i="0" kern="1200" dirty="0"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are </a:t>
            </a:r>
            <a:r>
              <a:rPr lang="fr-CH" sz="1500" b="0" i="0" kern="1200" dirty="0" err="1"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always</a:t>
            </a:r>
            <a:r>
              <a:rPr lang="fr-CH" sz="1500" b="0" i="0" kern="1200" dirty="0"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</a:t>
            </a:r>
            <a:r>
              <a:rPr lang="fr-CH" sz="1500" b="0" i="0" kern="1200" dirty="0" err="1"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available</a:t>
            </a:r>
            <a:r>
              <a:rPr lang="fr-CH" sz="1500" dirty="0"/>
              <a:t>. In real-world </a:t>
            </a:r>
            <a:r>
              <a:rPr lang="fr-CH" sz="1500" dirty="0" err="1"/>
              <a:t>deployment</a:t>
            </a:r>
            <a:r>
              <a:rPr lang="fr-CH" sz="1500" dirty="0"/>
              <a:t> </a:t>
            </a:r>
            <a:r>
              <a:rPr lang="fr-CH" sz="1500" dirty="0" err="1"/>
              <a:t>this</a:t>
            </a:r>
            <a:r>
              <a:rPr lang="fr-CH" sz="1500" dirty="0"/>
              <a:t> </a:t>
            </a:r>
            <a:r>
              <a:rPr lang="fr-CH" sz="1500" dirty="0" err="1"/>
              <a:t>assumptions</a:t>
            </a:r>
            <a:r>
              <a:rPr lang="fr-CH" sz="1500" dirty="0"/>
              <a:t> breaks (Hardware </a:t>
            </a:r>
            <a:r>
              <a:rPr lang="fr-CH" sz="1500" dirty="0" err="1"/>
              <a:t>failure</a:t>
            </a:r>
            <a:r>
              <a:rPr lang="fr-CH" sz="1500" dirty="0"/>
              <a:t>, power </a:t>
            </a:r>
            <a:r>
              <a:rPr lang="fr-CH" sz="1500" dirty="0" err="1"/>
              <a:t>loss</a:t>
            </a:r>
            <a:r>
              <a:rPr lang="fr-CH" sz="1500" dirty="0"/>
              <a:t> etc…)</a:t>
            </a:r>
          </a:p>
          <a:p>
            <a:endParaRPr lang="fr-CH" sz="1500" dirty="0"/>
          </a:p>
          <a:p>
            <a:r>
              <a:rPr lang="fr-CH" sz="1500" dirty="0" err="1"/>
              <a:t>What</a:t>
            </a:r>
            <a:r>
              <a:rPr lang="fr-CH" sz="1500" dirty="0"/>
              <a:t> </a:t>
            </a:r>
            <a:r>
              <a:rPr lang="fr-CH" sz="1500" dirty="0" err="1"/>
              <a:t>happened</a:t>
            </a:r>
            <a:r>
              <a:rPr lang="fr-CH" sz="1500" dirty="0"/>
              <a:t> </a:t>
            </a:r>
            <a:r>
              <a:rPr lang="fr-CH" sz="1500" dirty="0" err="1"/>
              <a:t>when</a:t>
            </a:r>
            <a:r>
              <a:rPr lang="fr-CH" sz="1500" dirty="0"/>
              <a:t> a </a:t>
            </a:r>
            <a:r>
              <a:rPr lang="fr-CH" sz="1500" dirty="0" err="1"/>
              <a:t>sensor</a:t>
            </a:r>
            <a:r>
              <a:rPr lang="fr-CH" sz="1500" dirty="0"/>
              <a:t> </a:t>
            </a:r>
            <a:r>
              <a:rPr lang="fr-CH" sz="1500" dirty="0" err="1"/>
              <a:t>disappears</a:t>
            </a:r>
            <a:r>
              <a:rPr lang="fr-CH" sz="1500" dirty="0"/>
              <a:t> </a:t>
            </a:r>
            <a:r>
              <a:rPr lang="fr-CH" sz="1500" dirty="0" err="1"/>
              <a:t>entirely</a:t>
            </a:r>
            <a:r>
              <a:rPr lang="fr-CH" sz="1500" dirty="0"/>
              <a:t> ?</a:t>
            </a:r>
          </a:p>
          <a:p>
            <a:endParaRPr lang="fr-CH" sz="1500" dirty="0"/>
          </a:p>
          <a:p>
            <a:r>
              <a:rPr lang="fr-CH" sz="1500" dirty="0" err="1"/>
              <a:t>Current</a:t>
            </a:r>
            <a:r>
              <a:rPr lang="fr-CH" sz="1500" dirty="0"/>
              <a:t> </a:t>
            </a:r>
            <a:r>
              <a:rPr lang="fr-CH" sz="1500" dirty="0" err="1"/>
              <a:t>work</a:t>
            </a:r>
            <a:r>
              <a:rPr lang="fr-CH" sz="1500" dirty="0"/>
              <a:t> </a:t>
            </a:r>
            <a:r>
              <a:rPr lang="fr-CH" sz="1500" dirty="0" err="1"/>
              <a:t>only</a:t>
            </a:r>
            <a:r>
              <a:rPr lang="fr-CH" sz="1500" dirty="0"/>
              <a:t> </a:t>
            </a:r>
            <a:r>
              <a:rPr lang="fr-CH" sz="1500" dirty="0" err="1"/>
              <a:t>studies</a:t>
            </a:r>
            <a:r>
              <a:rPr lang="fr-CH" sz="1500" dirty="0"/>
              <a:t> partial </a:t>
            </a:r>
            <a:r>
              <a:rPr lang="fr-CH" sz="1500" dirty="0" err="1"/>
              <a:t>degradation</a:t>
            </a:r>
            <a:r>
              <a:rPr lang="fr-CH" sz="1500" dirty="0"/>
              <a:t> (</a:t>
            </a:r>
            <a:r>
              <a:rPr lang="fr-CH" sz="1500" dirty="0" err="1"/>
              <a:t>noisy</a:t>
            </a:r>
            <a:r>
              <a:rPr lang="fr-CH" sz="1500" dirty="0"/>
              <a:t> images, </a:t>
            </a:r>
            <a:r>
              <a:rPr lang="fr-CH" sz="1500" dirty="0" err="1"/>
              <a:t>corrupted</a:t>
            </a:r>
            <a:r>
              <a:rPr lang="fr-CH" sz="1500" dirty="0"/>
              <a:t> </a:t>
            </a:r>
            <a:r>
              <a:rPr lang="fr-CH" sz="1500" dirty="0" err="1"/>
              <a:t>signals</a:t>
            </a:r>
            <a:r>
              <a:rPr lang="fr-CH" sz="1500" dirty="0"/>
              <a:t>). </a:t>
            </a:r>
          </a:p>
          <a:p>
            <a:r>
              <a:rPr lang="fr-CH" sz="1500" dirty="0" err="1"/>
              <a:t>RobustVLA</a:t>
            </a:r>
            <a:r>
              <a:rPr lang="fr-CH" sz="1500" dirty="0"/>
              <a:t> (ICLR 2026) </a:t>
            </a:r>
            <a:r>
              <a:rPr lang="fr-CH" sz="1500" dirty="0" err="1"/>
              <a:t>showed</a:t>
            </a:r>
            <a:r>
              <a:rPr lang="fr-CH" sz="1500" dirty="0"/>
              <a:t> </a:t>
            </a:r>
            <a:r>
              <a:rPr lang="fr-CH" sz="1500" dirty="0" err="1"/>
              <a:t>that</a:t>
            </a:r>
            <a:r>
              <a:rPr lang="fr-CH" sz="1500" dirty="0"/>
              <a:t>:</a:t>
            </a:r>
          </a:p>
          <a:p>
            <a:pPr lvl="1"/>
            <a:r>
              <a:rPr lang="fr-CH" sz="1300" dirty="0"/>
              <a:t> more data </a:t>
            </a:r>
            <a:r>
              <a:rPr lang="fr-CH" sz="1300" dirty="0" err="1"/>
              <a:t>alone</a:t>
            </a:r>
            <a:r>
              <a:rPr lang="fr-CH" sz="1300" dirty="0"/>
              <a:t> </a:t>
            </a:r>
            <a:r>
              <a:rPr lang="fr-CH" sz="1300" dirty="0" err="1"/>
              <a:t>does</a:t>
            </a:r>
            <a:r>
              <a:rPr lang="fr-CH" sz="1300" dirty="0"/>
              <a:t> not fix </a:t>
            </a:r>
            <a:r>
              <a:rPr lang="fr-CH" sz="1300" dirty="0" err="1"/>
              <a:t>robustness</a:t>
            </a:r>
            <a:endParaRPr lang="fr-CH" sz="1300" dirty="0"/>
          </a:p>
          <a:p>
            <a:pPr lvl="1"/>
            <a:r>
              <a:rPr lang="fr-CH" sz="1300" dirty="0"/>
              <a:t>Visual </a:t>
            </a:r>
            <a:r>
              <a:rPr lang="fr-CH" sz="1300" dirty="0" err="1"/>
              <a:t>robustness</a:t>
            </a:r>
            <a:r>
              <a:rPr lang="fr-CH" sz="1300" dirty="0"/>
              <a:t> </a:t>
            </a:r>
            <a:r>
              <a:rPr lang="fr-CH" sz="1300" dirty="0" err="1"/>
              <a:t>does</a:t>
            </a:r>
            <a:r>
              <a:rPr lang="fr-CH" sz="1300" dirty="0"/>
              <a:t> not </a:t>
            </a:r>
            <a:r>
              <a:rPr lang="fr-CH" sz="1300" dirty="0" err="1"/>
              <a:t>transfer</a:t>
            </a:r>
            <a:r>
              <a:rPr lang="fr-CH" sz="1300" dirty="0"/>
              <a:t> to </a:t>
            </a:r>
            <a:r>
              <a:rPr lang="fr-CH" sz="1300" dirty="0" err="1"/>
              <a:t>other</a:t>
            </a:r>
            <a:r>
              <a:rPr lang="fr-CH" sz="1300" dirty="0"/>
              <a:t> </a:t>
            </a:r>
            <a:endParaRPr lang="fr-FR" sz="1300" dirty="0"/>
          </a:p>
          <a:p>
            <a:endParaRPr lang="fr-FR" sz="1500" dirty="0"/>
          </a:p>
          <a:p>
            <a:pPr lvl="1"/>
            <a:endParaRPr lang="fr-FR" sz="1300" dirty="0"/>
          </a:p>
        </p:txBody>
      </p:sp>
      <p:sp>
        <p:nvSpPr>
          <p:cNvPr id="5" name="Title 2">
            <a:extLst>
              <a:ext uri="{FF2B5EF4-FFF2-40B4-BE49-F238E27FC236}">
                <a16:creationId xmlns:a16="http://schemas.microsoft.com/office/drawing/2014/main" id="{88C4DF1D-AC67-A519-6402-AFB77F22A0D5}"/>
              </a:ext>
            </a:extLst>
          </p:cNvPr>
          <p:cNvSpPr>
            <a:spLocks noGrp="1"/>
          </p:cNvSpPr>
          <p:nvPr/>
        </p:nvSpPr>
        <p:spPr>
          <a:xfrm>
            <a:off x="904875" y="131032"/>
            <a:ext cx="3667125" cy="1072753"/>
          </a:xfrm>
          <a:prstGeom prst="rect">
            <a:avLst/>
          </a:prstGeom>
        </p:spPr>
        <p:txBody>
          <a:bodyPr vert="horz" lIns="180000" tIns="0" rIns="72000" bIns="46800" rtlCol="0" anchor="t">
            <a:norm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1" i="0" kern="1000" spc="-70" baseline="0">
                <a:solidFill>
                  <a:schemeClr val="tx1"/>
                </a:solidFill>
                <a:latin typeface="Franklin Gothic Demi Cond" panose="020B0706030402020204" pitchFamily="34" charset="0"/>
                <a:ea typeface="Roboto Black" panose="02000000000000000000" pitchFamily="2" charset="0"/>
                <a:cs typeface="Arial" panose="020B0604020202020204" pitchFamily="34" charset="0"/>
              </a:defRPr>
            </a:lvl1pPr>
          </a:lstStyle>
          <a:p>
            <a:pPr>
              <a:spcAft>
                <a:spcPts val="600"/>
              </a:spcAft>
            </a:pPr>
            <a:r>
              <a:rPr lang="fr-FR" b="1" i="0" kern="1000" spc="-70" baseline="0">
                <a:latin typeface="Franklin Gothic Demi Cond" panose="020B0706030402020204" pitchFamily="34" charset="0"/>
                <a:ea typeface="Roboto Black" panose="02000000000000000000" pitchFamily="2" charset="0"/>
                <a:cs typeface="Arial" panose="020B0604020202020204" pitchFamily="34" charset="0"/>
              </a:rPr>
              <a:t>Motivation 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48C18E7-A58C-E260-3EF7-305ACCD39AB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 rot="16200000">
            <a:off x="-1221413" y="2778452"/>
            <a:ext cx="3341052" cy="911524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US"/>
              <a:t>MULTI-AGENT SYSTEM</a:t>
            </a:r>
            <a:endParaRPr lang="fr-FR"/>
          </a:p>
        </p:txBody>
      </p:sp>
      <p:sp>
        <p:nvSpPr>
          <p:cNvPr id="1044" name="Footer Placeholder 5">
            <a:extLst>
              <a:ext uri="{FF2B5EF4-FFF2-40B4-BE49-F238E27FC236}">
                <a16:creationId xmlns:a16="http://schemas.microsoft.com/office/drawing/2014/main" id="{2D4AFC44-901E-FE89-2D92-EE500F5A4A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16200000">
            <a:off x="7115989" y="1874064"/>
            <a:ext cx="3543260" cy="512762"/>
          </a:xfrm>
        </p:spPr>
        <p:txBody>
          <a:bodyPr/>
          <a:lstStyle/>
          <a:p>
            <a:endParaRPr lang="fr-FR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8BB6745-97B7-AD03-CAFE-B613C41F39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31238" y="195263"/>
            <a:ext cx="512762" cy="163552"/>
          </a:xfrm>
        </p:spPr>
        <p:txBody>
          <a:bodyPr vert="horz" lIns="90000" tIns="0" rIns="90000" bIns="0" rtlCol="0" anchor="t">
            <a:normAutofit/>
          </a:bodyPr>
          <a:lstStyle/>
          <a:p>
            <a:pPr>
              <a:spcAft>
                <a:spcPts val="600"/>
              </a:spcAft>
            </a:pPr>
            <a:fld id="{E1E1CD7C-2161-7D43-862E-CE4C333CD873}" type="slidenum">
              <a:rPr lang="fr-FR" smtClean="0"/>
              <a:pPr>
                <a:spcAft>
                  <a:spcPts val="600"/>
                </a:spcAft>
              </a:pPr>
              <a:t>2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395411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F725ED3-C6EF-2E21-35F7-49BABDD5C2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MULTI-AGENT SYSTEM</a:t>
            </a:r>
            <a:endParaRPr lang="fr-FR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3E5B0A1-899E-A0C1-CB87-EC95B1053A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7E3E72F-441E-897B-438B-0D833715E8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E1CD7C-2161-7D43-862E-CE4C333CD873}" type="slidenum">
              <a:rPr lang="fr-FR" smtClean="0"/>
              <a:pPr/>
              <a:t>3</a:t>
            </a:fld>
            <a:endParaRPr lang="fr-FR"/>
          </a:p>
        </p:txBody>
      </p:sp>
      <p:sp>
        <p:nvSpPr>
          <p:cNvPr id="5" name="Title 2">
            <a:extLst>
              <a:ext uri="{FF2B5EF4-FFF2-40B4-BE49-F238E27FC236}">
                <a16:creationId xmlns:a16="http://schemas.microsoft.com/office/drawing/2014/main" id="{3EB5492B-7C3A-DF34-1C71-BB722CDBCB8B}"/>
              </a:ext>
            </a:extLst>
          </p:cNvPr>
          <p:cNvSpPr>
            <a:spLocks noGrp="1"/>
          </p:cNvSpPr>
          <p:nvPr/>
        </p:nvSpPr>
        <p:spPr>
          <a:xfrm>
            <a:off x="904875" y="131032"/>
            <a:ext cx="6704734" cy="646843"/>
          </a:xfrm>
          <a:prstGeom prst="rect">
            <a:avLst/>
          </a:prstGeom>
        </p:spPr>
        <p:txBody>
          <a:bodyPr vert="horz" lIns="180000" tIns="0" rIns="72000" bIns="46800" rtlCol="0" anchor="t">
            <a:norm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1" i="0" kern="1000" spc="-70" baseline="0">
                <a:solidFill>
                  <a:schemeClr val="tx1"/>
                </a:solidFill>
                <a:latin typeface="Franklin Gothic Demi Cond" panose="020B0706030402020204" pitchFamily="34" charset="0"/>
                <a:ea typeface="Roboto Black" panose="02000000000000000000" pitchFamily="2" charset="0"/>
                <a:cs typeface="Arial" panose="020B0604020202020204" pitchFamily="34" charset="0"/>
              </a:defRPr>
            </a:lvl1pPr>
          </a:lstStyle>
          <a:p>
            <a:r>
              <a:rPr lang="en-US" dirty="0">
                <a:latin typeface="Franklin Gothic Demi Cond"/>
                <a:ea typeface="Roboto Black"/>
                <a:cs typeface="Arial"/>
              </a:rPr>
              <a:t>Related Work (1/2) 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Content Placeholder 1">
                <a:extLst>
                  <a:ext uri="{FF2B5EF4-FFF2-40B4-BE49-F238E27FC236}">
                    <a16:creationId xmlns:a16="http://schemas.microsoft.com/office/drawing/2014/main" id="{3FD97E20-2D96-BBC8-0FEC-09B7980282BE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68112" y="568171"/>
                <a:ext cx="8361589" cy="4380066"/>
              </a:xfrm>
              <a:prstGeom prst="rect">
                <a:avLst/>
              </a:prstGeom>
            </p:spPr>
            <p:txBody>
              <a:bodyPr/>
              <a:lstStyle>
                <a:lvl1pPr marL="171450" indent="-171450" algn="l" defTabSz="685800" rtl="0" eaLnBrk="1" latinLnBrk="0" hangingPunct="1">
                  <a:lnSpc>
                    <a:spcPct val="90000"/>
                  </a:lnSpc>
                  <a:spcBef>
                    <a:spcPts val="750"/>
                  </a:spcBef>
                  <a:buClr>
                    <a:schemeClr val="accent1"/>
                  </a:buClr>
                  <a:buSzPct val="90000"/>
                  <a:buFont typeface="Wingdings" pitchFamily="2" charset="2"/>
                  <a:buChar char="§"/>
                  <a:defRPr sz="1800" b="0" i="0"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lvl1pPr>
                <a:lvl2pPr marL="5143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Clr>
                    <a:schemeClr val="accent1"/>
                  </a:buClr>
                  <a:buSzPct val="100000"/>
                  <a:buFont typeface="Arial" panose="020B0604020202020204" pitchFamily="34" charset="0"/>
                  <a:buChar char="•"/>
                  <a:defRPr sz="1600" b="0" i="0"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lvl2pPr>
                <a:lvl3pPr marL="8572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SzPct val="90000"/>
                  <a:buFont typeface="Wingdings" pitchFamily="2" charset="2"/>
                  <a:buChar char="§"/>
                  <a:defRPr sz="1500" b="0" i="0"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lvl3pPr>
                <a:lvl4pPr marL="12001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5430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18859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2288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25717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29146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fr-CH" dirty="0"/>
                  <a:t>VLA </a:t>
                </a:r>
                <a:r>
                  <a:rPr lang="fr-CH" dirty="0" err="1"/>
                  <a:t>models</a:t>
                </a:r>
                <a:r>
                  <a:rPr lang="fr-CH" dirty="0"/>
                  <a:t> </a:t>
                </a:r>
                <a:r>
                  <a:rPr lang="fr-CH" dirty="0" err="1"/>
                  <a:t>map</a:t>
                </a:r>
                <a:r>
                  <a:rPr lang="fr-CH" dirty="0"/>
                  <a:t> </a:t>
                </a:r>
                <a:r>
                  <a:rPr lang="fr-CH" dirty="0" err="1"/>
                  <a:t>visual</a:t>
                </a:r>
                <a:r>
                  <a:rPr lang="fr-CH" dirty="0"/>
                  <a:t> observation + </a:t>
                </a:r>
                <a:r>
                  <a:rPr lang="fr-CH" dirty="0" err="1"/>
                  <a:t>language</a:t>
                </a:r>
                <a:r>
                  <a:rPr lang="fr-CH" dirty="0"/>
                  <a:t> instruction -&gt; robot actions (RT-1, RT-2, </a:t>
                </a:r>
                <a:r>
                  <a:rPr lang="fr-CH" dirty="0" err="1"/>
                  <a:t>OpenVLA</a:t>
                </a:r>
                <a:r>
                  <a:rPr lang="fr-CH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fr-CH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CH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𝜋</m:t>
                        </m:r>
                      </m:e>
                      <m:sub>
                        <m:r>
                          <a:rPr lang="fr-CH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fr-CH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..)</m:t>
                    </m:r>
                  </m:oMath>
                </a14:m>
                <a:endParaRPr lang="fr-CH" dirty="0"/>
              </a:p>
              <a:p>
                <a:endParaRPr lang="fr-CH" dirty="0"/>
              </a:p>
              <a:p>
                <a:r>
                  <a:rPr lang="fr-CH" dirty="0" err="1"/>
                  <a:t>Does</a:t>
                </a:r>
                <a:r>
                  <a:rPr lang="fr-CH" dirty="0"/>
                  <a:t> not </a:t>
                </a:r>
                <a:r>
                  <a:rPr lang="fr-CH" dirty="0" err="1"/>
                  <a:t>treat</a:t>
                </a:r>
                <a:r>
                  <a:rPr lang="fr-CH" dirty="0"/>
                  <a:t> </a:t>
                </a:r>
                <a:r>
                  <a:rPr lang="fr-CH" dirty="0" err="1"/>
                  <a:t>degradation</a:t>
                </a:r>
                <a:r>
                  <a:rPr lang="fr-CH" dirty="0"/>
                  <a:t> of </a:t>
                </a:r>
                <a:r>
                  <a:rPr lang="fr-CH" dirty="0" err="1"/>
                  <a:t>sensors</a:t>
                </a:r>
                <a:r>
                  <a:rPr lang="fr-CH" dirty="0"/>
                  <a:t>.</a:t>
                </a:r>
              </a:p>
              <a:p>
                <a:endParaRPr lang="fr-CH" dirty="0"/>
              </a:p>
              <a:p>
                <a:r>
                  <a:rPr lang="fr-CH" dirty="0"/>
                  <a:t>Multimodal </a:t>
                </a:r>
                <a:r>
                  <a:rPr lang="fr-CH" dirty="0" err="1"/>
                  <a:t>robustness</a:t>
                </a:r>
                <a:r>
                  <a:rPr lang="fr-CH" dirty="0"/>
                  <a:t> </a:t>
                </a:r>
                <a:r>
                  <a:rPr lang="fr-CH" dirty="0" err="1"/>
                  <a:t>treating</a:t>
                </a:r>
                <a:r>
                  <a:rPr lang="fr-CH" dirty="0"/>
                  <a:t> partial </a:t>
                </a:r>
                <a:r>
                  <a:rPr lang="fr-CH" dirty="0" err="1"/>
                  <a:t>degradation</a:t>
                </a:r>
                <a:r>
                  <a:rPr lang="fr-CH" dirty="0"/>
                  <a:t> </a:t>
                </a:r>
                <a:r>
                  <a:rPr lang="fr-CH" dirty="0" err="1"/>
                  <a:t>such</a:t>
                </a:r>
                <a:r>
                  <a:rPr lang="fr-CH" dirty="0"/>
                  <a:t> as BYOVLA (</a:t>
                </a:r>
                <a:r>
                  <a:rPr lang="fr-CH" dirty="0" err="1"/>
                  <a:t>removes</a:t>
                </a:r>
                <a:r>
                  <a:rPr lang="fr-CH" dirty="0"/>
                  <a:t> sensitives </a:t>
                </a:r>
                <a:r>
                  <a:rPr lang="fr-CH" dirty="0" err="1"/>
                  <a:t>visual</a:t>
                </a:r>
                <a:r>
                  <a:rPr lang="fr-CH" dirty="0"/>
                  <a:t> </a:t>
                </a:r>
                <a:r>
                  <a:rPr lang="fr-CH" dirty="0" err="1"/>
                  <a:t>regions</a:t>
                </a:r>
                <a:r>
                  <a:rPr lang="fr-CH" dirty="0"/>
                  <a:t>), GEVRM (model-</a:t>
                </a:r>
                <a:r>
                  <a:rPr lang="fr-CH" dirty="0" err="1"/>
                  <a:t>based</a:t>
                </a:r>
                <a:r>
                  <a:rPr lang="fr-CH" dirty="0"/>
                  <a:t> </a:t>
                </a:r>
                <a:r>
                  <a:rPr lang="fr-CH" dirty="0" err="1"/>
                  <a:t>plannin</a:t>
                </a:r>
                <a:r>
                  <a:rPr lang="fr-CH" dirty="0"/>
                  <a:t> </a:t>
                </a:r>
                <a:r>
                  <a:rPr lang="fr-CH" dirty="0" err="1"/>
                  <a:t>against</a:t>
                </a:r>
                <a:r>
                  <a:rPr lang="fr-CH" dirty="0"/>
                  <a:t> </a:t>
                </a:r>
                <a:r>
                  <a:rPr lang="fr-CH" dirty="0" err="1"/>
                  <a:t>visual</a:t>
                </a:r>
                <a:r>
                  <a:rPr lang="fr-CH" dirty="0"/>
                  <a:t> corruptions).</a:t>
                </a:r>
              </a:p>
              <a:p>
                <a:pPr marL="0" indent="0">
                  <a:buNone/>
                </a:pPr>
                <a:endParaRPr lang="fr-CH" dirty="0"/>
              </a:p>
              <a:p>
                <a:r>
                  <a:rPr lang="fr-CH" b="1" dirty="0"/>
                  <a:t>Limitation: </a:t>
                </a:r>
                <a:r>
                  <a:rPr lang="fr-CH" dirty="0"/>
                  <a:t>Complete </a:t>
                </a:r>
                <a:r>
                  <a:rPr lang="fr-CH" dirty="0" err="1"/>
                  <a:t>modality</a:t>
                </a:r>
                <a:r>
                  <a:rPr lang="fr-CH" dirty="0"/>
                  <a:t> suppression </a:t>
                </a:r>
                <a:r>
                  <a:rPr lang="fr-CH" dirty="0" err="1"/>
                  <a:t>never</a:t>
                </a:r>
                <a:r>
                  <a:rPr lang="fr-CH" dirty="0"/>
                  <a:t> </a:t>
                </a:r>
                <a:r>
                  <a:rPr lang="fr-CH" dirty="0" err="1"/>
                  <a:t>tested</a:t>
                </a:r>
                <a:r>
                  <a:rPr lang="fr-CH" dirty="0"/>
                  <a:t> and </a:t>
                </a:r>
                <a:r>
                  <a:rPr lang="fr-CH" dirty="0" err="1"/>
                  <a:t>additional</a:t>
                </a:r>
                <a:r>
                  <a:rPr lang="fr-CH" dirty="0"/>
                  <a:t> </a:t>
                </a:r>
                <a:r>
                  <a:rPr lang="fr-CH" dirty="0" err="1"/>
                  <a:t>visual</a:t>
                </a:r>
                <a:r>
                  <a:rPr lang="fr-CH" dirty="0"/>
                  <a:t> </a:t>
                </a:r>
                <a:r>
                  <a:rPr lang="fr-CH" dirty="0" err="1"/>
                  <a:t>sensor</a:t>
                </a:r>
                <a:r>
                  <a:rPr lang="fr-CH" dirty="0"/>
                  <a:t> </a:t>
                </a:r>
                <a:r>
                  <a:rPr lang="fr-CH" dirty="0" err="1"/>
                  <a:t>never</a:t>
                </a:r>
                <a:r>
                  <a:rPr lang="fr-CH" dirty="0"/>
                  <a:t> </a:t>
                </a:r>
                <a:r>
                  <a:rPr lang="fr-CH" dirty="0" err="1"/>
                  <a:t>considered</a:t>
                </a:r>
                <a:r>
                  <a:rPr lang="fr-CH" dirty="0"/>
                  <a:t>.</a:t>
                </a:r>
              </a:p>
            </p:txBody>
          </p:sp>
        </mc:Choice>
        <mc:Fallback>
          <p:sp>
            <p:nvSpPr>
              <p:cNvPr id="6" name="Content Placeholder 1">
                <a:extLst>
                  <a:ext uri="{FF2B5EF4-FFF2-40B4-BE49-F238E27FC236}">
                    <a16:creationId xmlns:a16="http://schemas.microsoft.com/office/drawing/2014/main" id="{3FD97E20-2D96-BBC8-0FEC-09B7980282B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8112" y="568171"/>
                <a:ext cx="8361589" cy="4380066"/>
              </a:xfrm>
              <a:prstGeom prst="rect">
                <a:avLst/>
              </a:prstGeom>
              <a:blipFill>
                <a:blip r:embed="rId2"/>
                <a:stretch>
                  <a:fillRect l="-365" t="-1252"/>
                </a:stretch>
              </a:blipFill>
            </p:spPr>
            <p:txBody>
              <a:bodyPr/>
              <a:lstStyle/>
              <a:p>
                <a:r>
                  <a:rPr lang="fr-CH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5959628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7164C8-9A2B-E9A5-0C0E-7B51C3387A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7B5C9E2-8100-9949-2EF3-2636C8ACE9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MULTI-AGENT SYSTEM</a:t>
            </a:r>
            <a:endParaRPr lang="fr-FR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32DE7BE-3C0E-5905-2D2D-F6333BEF4C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5BE3599-411C-98CB-F8B8-95AD371165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E1CD7C-2161-7D43-862E-CE4C333CD873}" type="slidenum">
              <a:rPr lang="fr-FR" smtClean="0"/>
              <a:pPr/>
              <a:t>4</a:t>
            </a:fld>
            <a:endParaRPr lang="fr-FR"/>
          </a:p>
        </p:txBody>
      </p:sp>
      <p:sp>
        <p:nvSpPr>
          <p:cNvPr id="5" name="Title 2">
            <a:extLst>
              <a:ext uri="{FF2B5EF4-FFF2-40B4-BE49-F238E27FC236}">
                <a16:creationId xmlns:a16="http://schemas.microsoft.com/office/drawing/2014/main" id="{B75DD885-3E35-AB6A-6367-D44CB671C11A}"/>
              </a:ext>
            </a:extLst>
          </p:cNvPr>
          <p:cNvSpPr>
            <a:spLocks noGrp="1"/>
          </p:cNvSpPr>
          <p:nvPr/>
        </p:nvSpPr>
        <p:spPr>
          <a:xfrm>
            <a:off x="904875" y="131032"/>
            <a:ext cx="6704734" cy="646843"/>
          </a:xfrm>
          <a:prstGeom prst="rect">
            <a:avLst/>
          </a:prstGeom>
        </p:spPr>
        <p:txBody>
          <a:bodyPr vert="horz" lIns="180000" tIns="0" rIns="72000" bIns="46800" rtlCol="0" anchor="t">
            <a:norm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1" i="0" kern="1000" spc="-70" baseline="0">
                <a:solidFill>
                  <a:schemeClr val="tx1"/>
                </a:solidFill>
                <a:latin typeface="Franklin Gothic Demi Cond" panose="020B0706030402020204" pitchFamily="34" charset="0"/>
                <a:ea typeface="Roboto Black" panose="02000000000000000000" pitchFamily="2" charset="0"/>
                <a:cs typeface="Arial" panose="020B0604020202020204" pitchFamily="34" charset="0"/>
              </a:defRPr>
            </a:lvl1pPr>
          </a:lstStyle>
          <a:p>
            <a:r>
              <a:rPr lang="en-US" dirty="0">
                <a:latin typeface="Franklin Gothic Demi Cond"/>
                <a:ea typeface="Roboto Black"/>
                <a:cs typeface="Arial"/>
              </a:rPr>
              <a:t>Related Work (2/2) </a:t>
            </a:r>
          </a:p>
        </p:txBody>
      </p:sp>
      <p:sp>
        <p:nvSpPr>
          <p:cNvPr id="6" name="Content Placeholder 1">
            <a:extLst>
              <a:ext uri="{FF2B5EF4-FFF2-40B4-BE49-F238E27FC236}">
                <a16:creationId xmlns:a16="http://schemas.microsoft.com/office/drawing/2014/main" id="{062E4265-3320-DF15-DAE1-8F83266C8425}"/>
              </a:ext>
            </a:extLst>
          </p:cNvPr>
          <p:cNvSpPr txBox="1">
            <a:spLocks/>
          </p:cNvSpPr>
          <p:nvPr/>
        </p:nvSpPr>
        <p:spPr>
          <a:xfrm>
            <a:off x="668112" y="568171"/>
            <a:ext cx="8361589" cy="4380066"/>
          </a:xfrm>
          <a:prstGeom prst="rect">
            <a:avLst/>
          </a:prstGeom>
        </p:spPr>
        <p:txBody>
          <a:bodyPr/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Clr>
                <a:schemeClr val="accent1"/>
              </a:buClr>
              <a:buSzPct val="90000"/>
              <a:buFont typeface="Wingdings" pitchFamily="2" charset="2"/>
              <a:buChar char="§"/>
              <a:defRPr sz="1800" b="0" i="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600" b="0" i="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SzPct val="90000"/>
              <a:buFont typeface="Wingdings" pitchFamily="2" charset="2"/>
              <a:buChar char="§"/>
              <a:defRPr sz="1500" b="0" i="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fr-CH" b="1" dirty="0"/>
          </a:p>
          <a:p>
            <a:r>
              <a:rPr lang="fr-CH" b="1" dirty="0"/>
              <a:t>Possible solutions</a:t>
            </a:r>
            <a:r>
              <a:rPr lang="fr-CH" dirty="0"/>
              <a:t>: </a:t>
            </a:r>
            <a:r>
              <a:rPr lang="fr-CH" dirty="0" err="1"/>
              <a:t>Modality</a:t>
            </a:r>
            <a:r>
              <a:rPr lang="fr-CH" dirty="0"/>
              <a:t> dropout </a:t>
            </a:r>
            <a:r>
              <a:rPr lang="fr-CH" dirty="0" err="1"/>
              <a:t>when</a:t>
            </a:r>
            <a:r>
              <a:rPr lang="fr-CH" dirty="0"/>
              <a:t> </a:t>
            </a:r>
            <a:r>
              <a:rPr lang="fr-CH" dirty="0" err="1"/>
              <a:t>modalities</a:t>
            </a:r>
            <a:r>
              <a:rPr lang="fr-CH" dirty="0"/>
              <a:t> are absent at test time, use 4M to </a:t>
            </a:r>
            <a:r>
              <a:rPr lang="fr-CH" dirty="0" err="1"/>
              <a:t>predicts</a:t>
            </a:r>
            <a:r>
              <a:rPr lang="fr-CH" dirty="0"/>
              <a:t> </a:t>
            </a:r>
            <a:r>
              <a:rPr lang="fr-CH" dirty="0" err="1"/>
              <a:t>any</a:t>
            </a:r>
            <a:r>
              <a:rPr lang="fr-CH" dirty="0"/>
              <a:t> </a:t>
            </a:r>
            <a:r>
              <a:rPr lang="fr-CH" dirty="0" err="1"/>
              <a:t>modality</a:t>
            </a:r>
            <a:r>
              <a:rPr lang="fr-CH" dirty="0"/>
              <a:t> </a:t>
            </a:r>
            <a:r>
              <a:rPr lang="fr-CH" dirty="0" err="1"/>
              <a:t>from</a:t>
            </a:r>
            <a:r>
              <a:rPr lang="fr-CH" dirty="0"/>
              <a:t> </a:t>
            </a:r>
            <a:r>
              <a:rPr lang="fr-CH" dirty="0" err="1"/>
              <a:t>any</a:t>
            </a:r>
            <a:r>
              <a:rPr lang="fr-CH" dirty="0"/>
              <a:t> </a:t>
            </a:r>
            <a:r>
              <a:rPr lang="fr-CH" dirty="0" err="1"/>
              <a:t>other</a:t>
            </a:r>
            <a:r>
              <a:rPr lang="fr-CH" dirty="0"/>
              <a:t>, </a:t>
            </a:r>
            <a:r>
              <a:rPr lang="fr-CH" dirty="0" err="1"/>
              <a:t>Masked</a:t>
            </a:r>
            <a:r>
              <a:rPr lang="fr-CH" dirty="0"/>
              <a:t> </a:t>
            </a:r>
            <a:r>
              <a:rPr lang="fr-CH" dirty="0" err="1"/>
              <a:t>Modality</a:t>
            </a:r>
            <a:r>
              <a:rPr lang="fr-CH" dirty="0"/>
              <a:t> Projection uses cross-</a:t>
            </a:r>
            <a:r>
              <a:rPr lang="fr-CH" dirty="0" err="1"/>
              <a:t>attn</a:t>
            </a:r>
            <a:r>
              <a:rPr lang="fr-CH" dirty="0"/>
              <a:t> to </a:t>
            </a:r>
            <a:r>
              <a:rPr lang="fr-CH" dirty="0" err="1"/>
              <a:t>reconstruct</a:t>
            </a:r>
            <a:r>
              <a:rPr lang="fr-CH" dirty="0"/>
              <a:t> </a:t>
            </a:r>
            <a:r>
              <a:rPr lang="fr-CH" dirty="0" err="1"/>
              <a:t>missing</a:t>
            </a:r>
            <a:r>
              <a:rPr lang="fr-CH" dirty="0"/>
              <a:t> </a:t>
            </a:r>
            <a:r>
              <a:rPr lang="fr-CH" dirty="0" err="1"/>
              <a:t>modality</a:t>
            </a:r>
            <a:r>
              <a:rPr lang="fr-CH" dirty="0"/>
              <a:t> </a:t>
            </a:r>
            <a:r>
              <a:rPr lang="fr-CH" dirty="0" err="1"/>
              <a:t>tokens</a:t>
            </a:r>
            <a:r>
              <a:rPr lang="fr-CH" dirty="0"/>
              <a:t>.</a:t>
            </a:r>
          </a:p>
          <a:p>
            <a:endParaRPr lang="fr-CH" dirty="0"/>
          </a:p>
          <a:p>
            <a:r>
              <a:rPr lang="fr-CH" dirty="0" err="1"/>
              <a:t>What</a:t>
            </a:r>
            <a:r>
              <a:rPr lang="fr-CH" dirty="0"/>
              <a:t> </a:t>
            </a:r>
            <a:r>
              <a:rPr lang="fr-CH" dirty="0" err="1"/>
              <a:t>happens</a:t>
            </a:r>
            <a:r>
              <a:rPr lang="fr-CH" dirty="0"/>
              <a:t> </a:t>
            </a:r>
            <a:r>
              <a:rPr lang="fr-CH" dirty="0" err="1"/>
              <a:t>when</a:t>
            </a:r>
            <a:r>
              <a:rPr lang="fr-CH" dirty="0"/>
              <a:t> a </a:t>
            </a:r>
            <a:r>
              <a:rPr lang="fr-CH" dirty="0" err="1"/>
              <a:t>modality</a:t>
            </a:r>
            <a:r>
              <a:rPr lang="fr-CH" dirty="0"/>
              <a:t> </a:t>
            </a:r>
            <a:r>
              <a:rPr lang="fr-CH" dirty="0" err="1"/>
              <a:t>is</a:t>
            </a:r>
            <a:r>
              <a:rPr lang="fr-CH" dirty="0"/>
              <a:t> </a:t>
            </a:r>
            <a:r>
              <a:rPr lang="fr-CH" dirty="0" err="1"/>
              <a:t>completedly</a:t>
            </a:r>
            <a:r>
              <a:rPr lang="fr-CH" dirty="0"/>
              <a:t> absent at </a:t>
            </a:r>
            <a:r>
              <a:rPr lang="fr-CH" dirty="0" err="1"/>
              <a:t>inference</a:t>
            </a:r>
            <a:r>
              <a:rPr lang="fr-CH" dirty="0"/>
              <a:t> time in an RGB + </a:t>
            </a:r>
            <a:r>
              <a:rPr lang="fr-CH" dirty="0" err="1"/>
              <a:t>Depth</a:t>
            </a:r>
            <a:r>
              <a:rPr lang="fr-CH" dirty="0"/>
              <a:t> VLA setting ? Is passive </a:t>
            </a:r>
            <a:r>
              <a:rPr lang="fr-CH" dirty="0" err="1"/>
              <a:t>robustness</a:t>
            </a:r>
            <a:r>
              <a:rPr lang="fr-CH" dirty="0"/>
              <a:t> (e.g.,</a:t>
            </a:r>
            <a:r>
              <a:rPr lang="fr-CH" dirty="0" err="1"/>
              <a:t>modality</a:t>
            </a:r>
            <a:r>
              <a:rPr lang="fr-CH" dirty="0"/>
              <a:t> dropout) </a:t>
            </a:r>
            <a:r>
              <a:rPr lang="fr-CH" dirty="0" err="1"/>
              <a:t>sufficient</a:t>
            </a:r>
            <a:r>
              <a:rPr lang="fr-CH" dirty="0"/>
              <a:t> or </a:t>
            </a:r>
            <a:r>
              <a:rPr lang="fr-CH" dirty="0" err="1"/>
              <a:t>does</a:t>
            </a:r>
            <a:r>
              <a:rPr lang="fr-CH" dirty="0"/>
              <a:t> active cross-modal reconstruction </a:t>
            </a:r>
            <a:r>
              <a:rPr lang="fr-CH" dirty="0" err="1"/>
              <a:t>bring</a:t>
            </a:r>
            <a:r>
              <a:rPr lang="fr-CH" dirty="0"/>
              <a:t> </a:t>
            </a:r>
            <a:r>
              <a:rPr lang="fr-CH" dirty="0" err="1"/>
              <a:t>additional</a:t>
            </a:r>
            <a:r>
              <a:rPr lang="fr-CH" dirty="0"/>
              <a:t> gains ?</a:t>
            </a:r>
          </a:p>
          <a:p>
            <a:endParaRPr lang="fr-CH" dirty="0"/>
          </a:p>
          <a:p>
            <a:endParaRPr lang="fr-CH" dirty="0"/>
          </a:p>
        </p:txBody>
      </p:sp>
    </p:spTree>
    <p:extLst>
      <p:ext uri="{BB962C8B-B14F-4D97-AF65-F5344CB8AC3E}">
        <p14:creationId xmlns:p14="http://schemas.microsoft.com/office/powerpoint/2010/main" val="23581137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423B9D-9E76-063F-3F2D-E91D7E4AA3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AA087EA-1895-4476-17D9-9CAAE3FC48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MULTI-AGENT SYSTEM</a:t>
            </a:r>
            <a:endParaRPr lang="fr-FR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E9FB543-B44D-AE5C-1241-4E2C50128C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C47FB48-F95F-2151-8D1C-397858F747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E1CD7C-2161-7D43-862E-CE4C333CD873}" type="slidenum">
              <a:rPr lang="fr-FR" smtClean="0"/>
              <a:pPr/>
              <a:t>5</a:t>
            </a:fld>
            <a:endParaRPr lang="fr-F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Title 2">
                <a:extLst>
                  <a:ext uri="{FF2B5EF4-FFF2-40B4-BE49-F238E27FC236}">
                    <a16:creationId xmlns:a16="http://schemas.microsoft.com/office/drawing/2014/main" id="{B73F22A4-3C59-149C-C8C6-95F21101D9AD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773907" y="184166"/>
                <a:ext cx="7988300" cy="646843"/>
              </a:xfrm>
              <a:prstGeom prst="rect">
                <a:avLst/>
              </a:prstGeom>
            </p:spPr>
            <p:txBody>
              <a:bodyPr vert="horz" lIns="180000" tIns="0" rIns="72000" bIns="46800" rtlCol="0" anchor="t">
                <a:normAutofit fontScale="85000" lnSpcReduction="10000"/>
              </a:bodyPr>
              <a:lstStyle>
                <a:lvl1pPr algn="l" defTabSz="6858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3200" b="1" i="0" kern="1000" spc="-70" baseline="0">
                    <a:solidFill>
                      <a:schemeClr val="tx1"/>
                    </a:solidFill>
                    <a:latin typeface="Franklin Gothic Demi Cond" panose="020B0706030402020204" pitchFamily="34" charset="0"/>
                    <a:ea typeface="Roboto Black" panose="02000000000000000000" pitchFamily="2" charset="0"/>
                    <a:cs typeface="Arial" panose="020B0604020202020204" pitchFamily="34" charset="0"/>
                  </a:defRPr>
                </a:lvl1pPr>
              </a:lstStyle>
              <a:p>
                <a:r>
                  <a:rPr lang="en-US" dirty="0">
                    <a:latin typeface="Franklin Gothic Demi Cond"/>
                    <a:ea typeface="Roboto Black"/>
                    <a:cs typeface="Arial"/>
                  </a:rPr>
                  <a:t>Methodology: </a:t>
                </a:r>
                <a:r>
                  <a:rPr lang="en-US" dirty="0" err="1">
                    <a:latin typeface="Franklin Gothic Demi Cond"/>
                    <a:ea typeface="Roboto Black"/>
                    <a:cs typeface="Arial"/>
                  </a:rPr>
                  <a:t>RobustVLA</a:t>
                </a:r>
                <a:r>
                  <a:rPr lang="en-US" dirty="0">
                    <a:latin typeface="Franklin Gothic Demi Cond"/>
                    <a:ea typeface="Roboto Black"/>
                    <a:cs typeface="Arial"/>
                  </a:rPr>
                  <a:t> = Backbone</a:t>
                </a:r>
                <a:r>
                  <a:rPr lang="fr-CH" dirty="0">
                    <a:solidFill>
                      <a:schemeClr val="accent5">
                        <a:lumMod val="75000"/>
                      </a:schemeClr>
                    </a:solidFill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fr-CH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CH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𝜋</m:t>
                        </m:r>
                      </m:e>
                      <m:sub>
                        <m:r>
                          <a:rPr lang="fr-CH" b="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</m:t>
                        </m:r>
                        <m:r>
                          <a:rPr lang="fr-CH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</m:sub>
                    </m:sSub>
                  </m:oMath>
                </a14:m>
                <a:r>
                  <a:rPr lang="en-US" dirty="0">
                    <a:latin typeface="Franklin Gothic Demi Cond"/>
                    <a:ea typeface="Roboto Black"/>
                    <a:cs typeface="Arial"/>
                  </a:rPr>
                  <a:t>+ training strategies</a:t>
                </a:r>
              </a:p>
            </p:txBody>
          </p:sp>
        </mc:Choice>
        <mc:Fallback>
          <p:sp>
            <p:nvSpPr>
              <p:cNvPr id="5" name="Title 2">
                <a:extLst>
                  <a:ext uri="{FF2B5EF4-FFF2-40B4-BE49-F238E27FC236}">
                    <a16:creationId xmlns:a16="http://schemas.microsoft.com/office/drawing/2014/main" id="{B73F22A4-3C59-149C-C8C6-95F21101D9A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3907" y="184166"/>
                <a:ext cx="7988300" cy="646843"/>
              </a:xfrm>
              <a:prstGeom prst="rect">
                <a:avLst/>
              </a:prstGeom>
              <a:blipFill>
                <a:blip r:embed="rId2"/>
                <a:stretch>
                  <a:fillRect l="-382" t="-28302"/>
                </a:stretch>
              </a:blipFill>
            </p:spPr>
            <p:txBody>
              <a:bodyPr/>
              <a:lstStyle/>
              <a:p>
                <a:r>
                  <a:rPr lang="fr-CH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Picture 6">
            <a:extLst>
              <a:ext uri="{FF2B5EF4-FFF2-40B4-BE49-F238E27FC236}">
                <a16:creationId xmlns:a16="http://schemas.microsoft.com/office/drawing/2014/main" id="{E3E719CC-700E-BE05-2AC2-01A3CFF2188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634" t="3848" r="3405"/>
          <a:stretch>
            <a:fillRect/>
          </a:stretch>
        </p:blipFill>
        <p:spPr>
          <a:xfrm>
            <a:off x="719413" y="1415415"/>
            <a:ext cx="7582258" cy="2178868"/>
          </a:xfrm>
          <a:prstGeom prst="rect">
            <a:avLst/>
          </a:prstGeom>
        </p:spPr>
      </p:pic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B4756282-CC44-92B0-CB2C-AD8CBA02DC7A}"/>
              </a:ext>
            </a:extLst>
          </p:cNvPr>
          <p:cNvSpPr/>
          <p:nvPr/>
        </p:nvSpPr>
        <p:spPr>
          <a:xfrm>
            <a:off x="514828" y="1241425"/>
            <a:ext cx="8114344" cy="2338387"/>
          </a:xfrm>
          <a:prstGeom prst="roundRect">
            <a:avLst/>
          </a:prstGeom>
          <a:noFill/>
          <a:ln w="38100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5"/>
          </a:fontRef>
        </p:style>
        <p:txBody>
          <a:bodyPr rtlCol="0" anchor="ctr"/>
          <a:lstStyle/>
          <a:p>
            <a:pPr algn="ctr"/>
            <a:endParaRPr lang="fr-CH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2E858F9C-907E-31FF-835F-D9F8AD2A6A02}"/>
                  </a:ext>
                </a:extLst>
              </p:cNvPr>
              <p:cNvSpPr txBox="1"/>
              <p:nvPr/>
            </p:nvSpPr>
            <p:spPr>
              <a:xfrm>
                <a:off x="7607234" y="748040"/>
                <a:ext cx="512762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CH" sz="2800" i="1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CH" sz="2800" i="1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𝜋</m:t>
                          </m:r>
                        </m:e>
                        <m:sub>
                          <m:r>
                            <a:rPr lang="fr-CH" sz="2800" b="0" i="1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fr-CH" sz="2800" dirty="0"/>
              </a:p>
            </p:txBody>
          </p:sp>
        </mc:Choice>
        <mc:Fallback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2E858F9C-907E-31FF-835F-D9F8AD2A6A0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07234" y="748040"/>
                <a:ext cx="512762" cy="52322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CH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TextBox 9">
            <a:extLst>
              <a:ext uri="{FF2B5EF4-FFF2-40B4-BE49-F238E27FC236}">
                <a16:creationId xmlns:a16="http://schemas.microsoft.com/office/drawing/2014/main" id="{1390583D-5078-BB10-D6D9-A0D64CF31FCA}"/>
              </a:ext>
            </a:extLst>
          </p:cNvPr>
          <p:cNvSpPr txBox="1"/>
          <p:nvPr/>
        </p:nvSpPr>
        <p:spPr>
          <a:xfrm>
            <a:off x="2992301" y="3723967"/>
            <a:ext cx="3649436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CH" dirty="0" err="1"/>
              <a:t>c.f</a:t>
            </a:r>
            <a:r>
              <a:rPr lang="fr-CH" dirty="0"/>
              <a:t>.: https://www.pi.website/blog/pi0</a:t>
            </a:r>
          </a:p>
        </p:txBody>
      </p:sp>
    </p:spTree>
    <p:extLst>
      <p:ext uri="{BB962C8B-B14F-4D97-AF65-F5344CB8AC3E}">
        <p14:creationId xmlns:p14="http://schemas.microsoft.com/office/powerpoint/2010/main" val="29245625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C98EB3-9681-BFCE-7E30-7C79C9443A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69BA00A-9B0D-840E-589E-98962C49F9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MULTI-AGENT SYSTEM</a:t>
            </a:r>
            <a:endParaRPr lang="fr-FR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E124850-60EE-A1DA-DE8F-B5B5667F04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8B65363-0B80-061E-0474-FFD92DFC50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E1CD7C-2161-7D43-862E-CE4C333CD873}" type="slidenum">
              <a:rPr lang="fr-FR" smtClean="0"/>
              <a:pPr/>
              <a:t>6</a:t>
            </a:fld>
            <a:endParaRPr lang="fr-FR"/>
          </a:p>
        </p:txBody>
      </p:sp>
      <p:sp>
        <p:nvSpPr>
          <p:cNvPr id="5" name="Title 2">
            <a:extLst>
              <a:ext uri="{FF2B5EF4-FFF2-40B4-BE49-F238E27FC236}">
                <a16:creationId xmlns:a16="http://schemas.microsoft.com/office/drawing/2014/main" id="{DF6D601D-FB43-5206-6257-648771F8DD0E}"/>
              </a:ext>
            </a:extLst>
          </p:cNvPr>
          <p:cNvSpPr>
            <a:spLocks noGrp="1"/>
          </p:cNvSpPr>
          <p:nvPr/>
        </p:nvSpPr>
        <p:spPr>
          <a:xfrm>
            <a:off x="904875" y="131032"/>
            <a:ext cx="6704734" cy="646843"/>
          </a:xfrm>
          <a:prstGeom prst="rect">
            <a:avLst/>
          </a:prstGeom>
        </p:spPr>
        <p:txBody>
          <a:bodyPr vert="horz" lIns="180000" tIns="0" rIns="72000" bIns="46800" rtlCol="0" anchor="t">
            <a:norm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1" i="0" kern="1000" spc="-70" baseline="0">
                <a:solidFill>
                  <a:schemeClr val="tx1"/>
                </a:solidFill>
                <a:latin typeface="Franklin Gothic Demi Cond" panose="020B0706030402020204" pitchFamily="34" charset="0"/>
                <a:ea typeface="Roboto Black" panose="02000000000000000000" pitchFamily="2" charset="0"/>
                <a:cs typeface="Arial" panose="020B0604020202020204" pitchFamily="34" charset="0"/>
              </a:defRPr>
            </a:lvl1pPr>
          </a:lstStyle>
          <a:p>
            <a:r>
              <a:rPr lang="en-US" dirty="0">
                <a:latin typeface="Franklin Gothic Demi Cond"/>
                <a:ea typeface="Roboto Black"/>
                <a:cs typeface="Arial"/>
              </a:rPr>
              <a:t>Methodology: </a:t>
            </a:r>
            <a:r>
              <a:rPr lang="en-US" dirty="0" err="1">
                <a:latin typeface="Franklin Gothic Demi Cond"/>
                <a:ea typeface="Roboto Black"/>
                <a:cs typeface="Arial"/>
              </a:rPr>
              <a:t>RobustVLA</a:t>
            </a:r>
            <a:r>
              <a:rPr lang="en-US" dirty="0">
                <a:latin typeface="Franklin Gothic Demi Cond"/>
                <a:ea typeface="Roboto Black"/>
                <a:cs typeface="Arial"/>
              </a:rPr>
              <a:t> 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BA45AF9-24C0-0827-7268-0CCC3C2306C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634" t="3848" r="3405"/>
          <a:stretch>
            <a:fillRect/>
          </a:stretch>
        </p:blipFill>
        <p:spPr>
          <a:xfrm>
            <a:off x="719413" y="1415415"/>
            <a:ext cx="7582258" cy="2178868"/>
          </a:xfrm>
          <a:prstGeom prst="rect">
            <a:avLst/>
          </a:prstGeom>
        </p:spPr>
      </p:pic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3C4CCFCF-DB9F-1DE3-07BA-01D1F28AD9C3}"/>
              </a:ext>
            </a:extLst>
          </p:cNvPr>
          <p:cNvSpPr/>
          <p:nvPr/>
        </p:nvSpPr>
        <p:spPr>
          <a:xfrm>
            <a:off x="514828" y="1241425"/>
            <a:ext cx="8114344" cy="2338387"/>
          </a:xfrm>
          <a:prstGeom prst="roundRect">
            <a:avLst/>
          </a:prstGeom>
          <a:noFill/>
          <a:ln w="38100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5"/>
          </a:fontRef>
        </p:style>
        <p:txBody>
          <a:bodyPr rtlCol="0" anchor="ctr"/>
          <a:lstStyle/>
          <a:p>
            <a:pPr algn="ctr"/>
            <a:endParaRPr lang="fr-CH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B74A52F0-6248-E86A-F836-D416B739A40A}"/>
                  </a:ext>
                </a:extLst>
              </p:cNvPr>
              <p:cNvSpPr txBox="1"/>
              <p:nvPr/>
            </p:nvSpPr>
            <p:spPr>
              <a:xfrm>
                <a:off x="7607234" y="748040"/>
                <a:ext cx="512762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CH" sz="2800" i="1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CH" sz="2800" i="1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𝜋</m:t>
                          </m:r>
                        </m:e>
                        <m:sub>
                          <m:r>
                            <a:rPr lang="fr-CH" sz="2800" b="0" i="1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fr-CH" sz="2800" dirty="0"/>
              </a:p>
            </p:txBody>
          </p:sp>
        </mc:Choice>
        <mc:Fallback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B74A52F0-6248-E86A-F836-D416B739A40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07234" y="748040"/>
                <a:ext cx="512762" cy="52322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CH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3" name="Connector: Curved 12">
            <a:extLst>
              <a:ext uri="{FF2B5EF4-FFF2-40B4-BE49-F238E27FC236}">
                <a16:creationId xmlns:a16="http://schemas.microsoft.com/office/drawing/2014/main" id="{7CAE9EB1-016D-6A2F-F0B7-C44C4B42EBFF}"/>
              </a:ext>
            </a:extLst>
          </p:cNvPr>
          <p:cNvCxnSpPr/>
          <p:nvPr/>
        </p:nvCxnSpPr>
        <p:spPr>
          <a:xfrm rot="10800000">
            <a:off x="4400551" y="3037115"/>
            <a:ext cx="2416629" cy="1575707"/>
          </a:xfrm>
          <a:prstGeom prst="curvedConnector3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CCD03AED-D200-03E5-9CE6-ADEA8F51C3B7}"/>
              </a:ext>
            </a:extLst>
          </p:cNvPr>
          <p:cNvSpPr txBox="1"/>
          <p:nvPr/>
        </p:nvSpPr>
        <p:spPr>
          <a:xfrm>
            <a:off x="6817180" y="4462422"/>
            <a:ext cx="169000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CH" sz="1600" dirty="0" err="1">
                <a:solidFill>
                  <a:schemeClr val="accent1"/>
                </a:solidFill>
              </a:rPr>
              <a:t>Depth</a:t>
            </a:r>
            <a:r>
              <a:rPr lang="fr-CH" sz="1600" dirty="0">
                <a:solidFill>
                  <a:schemeClr val="accent1"/>
                </a:solidFill>
              </a:rPr>
              <a:t> data + </a:t>
            </a:r>
            <a:r>
              <a:rPr lang="fr-CH" sz="1600" dirty="0" err="1">
                <a:solidFill>
                  <a:schemeClr val="accent1"/>
                </a:solidFill>
              </a:rPr>
              <a:t>Depth</a:t>
            </a:r>
            <a:r>
              <a:rPr lang="fr-CH" sz="1600" dirty="0">
                <a:solidFill>
                  <a:schemeClr val="accent1"/>
                </a:solidFill>
              </a:rPr>
              <a:t> encoder</a:t>
            </a: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8FAA4DC2-135C-7486-E7E4-5DFCED561D2A}"/>
              </a:ext>
            </a:extLst>
          </p:cNvPr>
          <p:cNvSpPr/>
          <p:nvPr/>
        </p:nvSpPr>
        <p:spPr>
          <a:xfrm>
            <a:off x="2007734" y="2341563"/>
            <a:ext cx="3706586" cy="556758"/>
          </a:xfrm>
          <a:prstGeom prst="ellipse">
            <a:avLst/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H"/>
          </a:p>
        </p:txBody>
      </p:sp>
      <p:cxnSp>
        <p:nvCxnSpPr>
          <p:cNvPr id="17" name="Connector: Curved 16">
            <a:extLst>
              <a:ext uri="{FF2B5EF4-FFF2-40B4-BE49-F238E27FC236}">
                <a16:creationId xmlns:a16="http://schemas.microsoft.com/office/drawing/2014/main" id="{0C139C4A-087C-8936-096F-AA7A7964B241}"/>
              </a:ext>
            </a:extLst>
          </p:cNvPr>
          <p:cNvCxnSpPr>
            <a:cxnSpLocks/>
            <a:stCxn id="18" idx="0"/>
          </p:cNvCxnSpPr>
          <p:nvPr/>
        </p:nvCxnSpPr>
        <p:spPr>
          <a:xfrm rot="16200000" flipV="1">
            <a:off x="1702043" y="3269215"/>
            <a:ext cx="2085039" cy="786493"/>
          </a:xfrm>
          <a:prstGeom prst="curvedConnector3">
            <a:avLst/>
          </a:prstGeom>
          <a:ln w="38100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26B2F5DF-D6D3-C53C-E0B1-F5A63E08AFD7}"/>
              </a:ext>
            </a:extLst>
          </p:cNvPr>
          <p:cNvSpPr txBox="1"/>
          <p:nvPr/>
        </p:nvSpPr>
        <p:spPr>
          <a:xfrm>
            <a:off x="1625374" y="4704981"/>
            <a:ext cx="302486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CH" sz="1600" dirty="0">
                <a:solidFill>
                  <a:srgbClr val="229A8F"/>
                </a:solidFill>
              </a:rPr>
              <a:t>[RGB </a:t>
            </a:r>
            <a:r>
              <a:rPr lang="fr-CH" sz="1600" dirty="0" err="1">
                <a:solidFill>
                  <a:srgbClr val="229A8F"/>
                </a:solidFill>
              </a:rPr>
              <a:t>tokens</a:t>
            </a:r>
            <a:r>
              <a:rPr lang="fr-CH" sz="1600" dirty="0">
                <a:solidFill>
                  <a:srgbClr val="229A8F"/>
                </a:solidFill>
              </a:rPr>
              <a:t> + </a:t>
            </a:r>
            <a:r>
              <a:rPr lang="fr-CH" sz="1600" dirty="0" err="1">
                <a:solidFill>
                  <a:srgbClr val="229A8F"/>
                </a:solidFill>
              </a:rPr>
              <a:t>Depth</a:t>
            </a:r>
            <a:r>
              <a:rPr lang="fr-CH" sz="1600" dirty="0">
                <a:solidFill>
                  <a:srgbClr val="229A8F"/>
                </a:solidFill>
              </a:rPr>
              <a:t> </a:t>
            </a:r>
            <a:r>
              <a:rPr lang="fr-CH" sz="1600" dirty="0" err="1">
                <a:solidFill>
                  <a:srgbClr val="229A8F"/>
                </a:solidFill>
              </a:rPr>
              <a:t>tokens</a:t>
            </a:r>
            <a:r>
              <a:rPr lang="fr-CH" sz="1600" dirty="0">
                <a:solidFill>
                  <a:srgbClr val="229A8F"/>
                </a:solidFill>
              </a:rPr>
              <a:t>]</a:t>
            </a:r>
          </a:p>
        </p:txBody>
      </p:sp>
    </p:spTree>
    <p:extLst>
      <p:ext uri="{BB962C8B-B14F-4D97-AF65-F5344CB8AC3E}">
        <p14:creationId xmlns:p14="http://schemas.microsoft.com/office/powerpoint/2010/main" val="292879755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F334A5-0601-5AAB-C86D-1C09805074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B43491B-B3BE-AB95-40E6-EFB7E7CA57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MULTI-AGENT SYSTEM</a:t>
            </a:r>
            <a:endParaRPr lang="fr-FR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46580EF-9563-06FF-423A-353C7D7827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CCC2B6E-4531-A1D5-AD04-533CF092A3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E1CD7C-2161-7D43-862E-CE4C333CD873}" type="slidenum">
              <a:rPr lang="fr-FR" smtClean="0"/>
              <a:pPr/>
              <a:t>7</a:t>
            </a:fld>
            <a:endParaRPr lang="fr-FR"/>
          </a:p>
        </p:txBody>
      </p:sp>
      <p:sp>
        <p:nvSpPr>
          <p:cNvPr id="5" name="Title 2">
            <a:extLst>
              <a:ext uri="{FF2B5EF4-FFF2-40B4-BE49-F238E27FC236}">
                <a16:creationId xmlns:a16="http://schemas.microsoft.com/office/drawing/2014/main" id="{4DA91854-FDD6-1486-626F-5529A782F0AD}"/>
              </a:ext>
            </a:extLst>
          </p:cNvPr>
          <p:cNvSpPr>
            <a:spLocks noGrp="1"/>
          </p:cNvSpPr>
          <p:nvPr/>
        </p:nvSpPr>
        <p:spPr>
          <a:xfrm>
            <a:off x="904875" y="131032"/>
            <a:ext cx="6704734" cy="646843"/>
          </a:xfrm>
          <a:prstGeom prst="rect">
            <a:avLst/>
          </a:prstGeom>
        </p:spPr>
        <p:txBody>
          <a:bodyPr vert="horz" lIns="180000" tIns="0" rIns="72000" bIns="46800" rtlCol="0" anchor="t">
            <a:norm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1" i="0" kern="1000" spc="-70" baseline="0">
                <a:solidFill>
                  <a:schemeClr val="tx1"/>
                </a:solidFill>
                <a:latin typeface="Franklin Gothic Demi Cond" panose="020B0706030402020204" pitchFamily="34" charset="0"/>
                <a:ea typeface="Roboto Black" panose="02000000000000000000" pitchFamily="2" charset="0"/>
                <a:cs typeface="Arial" panose="020B0604020202020204" pitchFamily="34" charset="0"/>
              </a:defRPr>
            </a:lvl1pPr>
          </a:lstStyle>
          <a:p>
            <a:r>
              <a:rPr lang="en-US" dirty="0">
                <a:latin typeface="Franklin Gothic Demi Cond"/>
                <a:ea typeface="Roboto Black"/>
                <a:cs typeface="Arial"/>
              </a:rPr>
              <a:t>Methodology: Project strategy</a:t>
            </a:r>
          </a:p>
        </p:txBody>
      </p:sp>
      <p:sp>
        <p:nvSpPr>
          <p:cNvPr id="20" name="Content Placeholder 1">
            <a:extLst>
              <a:ext uri="{FF2B5EF4-FFF2-40B4-BE49-F238E27FC236}">
                <a16:creationId xmlns:a16="http://schemas.microsoft.com/office/drawing/2014/main" id="{8B985D68-B11B-086A-90F7-BA3C5667D850}"/>
              </a:ext>
            </a:extLst>
          </p:cNvPr>
          <p:cNvSpPr txBox="1">
            <a:spLocks/>
          </p:cNvSpPr>
          <p:nvPr/>
        </p:nvSpPr>
        <p:spPr>
          <a:xfrm>
            <a:off x="554743" y="522367"/>
            <a:ext cx="8107539" cy="2027137"/>
          </a:xfrm>
          <a:prstGeom prst="rect">
            <a:avLst/>
          </a:prstGeom>
        </p:spPr>
        <p:txBody>
          <a:bodyPr/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Clr>
                <a:schemeClr val="accent1"/>
              </a:buClr>
              <a:buSzPct val="90000"/>
              <a:buFont typeface="Wingdings" pitchFamily="2" charset="2"/>
              <a:buChar char="§"/>
              <a:defRPr sz="1800" b="0" i="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600" b="0" i="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SzPct val="90000"/>
              <a:buFont typeface="Wingdings" pitchFamily="2" charset="2"/>
              <a:buChar char="§"/>
              <a:defRPr sz="1500" b="0" i="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fr-CH" b="1" dirty="0"/>
          </a:p>
          <a:p>
            <a:r>
              <a:rPr lang="fr-CH" dirty="0" err="1"/>
              <a:t>RobustVLA</a:t>
            </a:r>
            <a:r>
              <a:rPr lang="fr-CH" dirty="0"/>
              <a:t> </a:t>
            </a:r>
            <a:r>
              <a:rPr lang="fr-CH" dirty="0" err="1"/>
              <a:t>does</a:t>
            </a:r>
            <a:r>
              <a:rPr lang="fr-CH" dirty="0"/>
              <a:t> not support </a:t>
            </a:r>
            <a:r>
              <a:rPr lang="fr-CH" dirty="0" err="1"/>
              <a:t>Depth</a:t>
            </a:r>
            <a:r>
              <a:rPr lang="fr-CH" dirty="0"/>
              <a:t> </a:t>
            </a:r>
            <a:r>
              <a:rPr lang="fr-CH" dirty="0" err="1"/>
              <a:t>so</a:t>
            </a:r>
            <a:r>
              <a:rPr lang="fr-CH" dirty="0"/>
              <a:t> the plan </a:t>
            </a:r>
            <a:r>
              <a:rPr lang="fr-CH" dirty="0" err="1"/>
              <a:t>is</a:t>
            </a:r>
            <a:r>
              <a:rPr lang="fr-CH" dirty="0"/>
              <a:t> to fine-tune </a:t>
            </a:r>
            <a:r>
              <a:rPr lang="fr-CH" dirty="0" err="1"/>
              <a:t>with</a:t>
            </a:r>
            <a:r>
              <a:rPr lang="fr-CH" dirty="0"/>
              <a:t> LIBERO </a:t>
            </a:r>
            <a:r>
              <a:rPr lang="fr-CH" dirty="0" err="1"/>
              <a:t>dataset</a:t>
            </a:r>
            <a:r>
              <a:rPr lang="fr-CH" dirty="0"/>
              <a:t>.</a:t>
            </a:r>
          </a:p>
          <a:p>
            <a:endParaRPr lang="fr-CH" dirty="0"/>
          </a:p>
          <a:p>
            <a:r>
              <a:rPr lang="fr-CH" dirty="0" err="1"/>
              <a:t>Strategy</a:t>
            </a:r>
            <a:r>
              <a:rPr lang="fr-CH" dirty="0"/>
              <a:t> 1: </a:t>
            </a:r>
            <a:r>
              <a:rPr lang="fr-CH" dirty="0" err="1"/>
              <a:t>Modality</a:t>
            </a:r>
            <a:r>
              <a:rPr lang="fr-CH" dirty="0"/>
              <a:t> Dropout (passive </a:t>
            </a:r>
            <a:r>
              <a:rPr lang="fr-CH" dirty="0" err="1"/>
              <a:t>robustness</a:t>
            </a:r>
            <a:r>
              <a:rPr lang="fr-CH" dirty="0"/>
              <a:t>): </a:t>
            </a:r>
            <a:r>
              <a:rPr lang="fr-CH" dirty="0" err="1"/>
              <a:t>During</a:t>
            </a:r>
            <a:r>
              <a:rPr lang="fr-CH" dirty="0"/>
              <a:t> training, </a:t>
            </a:r>
            <a:r>
              <a:rPr lang="fr-CH" dirty="0" err="1"/>
              <a:t>we</a:t>
            </a:r>
            <a:r>
              <a:rPr lang="fr-CH" dirty="0"/>
              <a:t> </a:t>
            </a:r>
            <a:r>
              <a:rPr lang="fr-CH" dirty="0" err="1"/>
              <a:t>randomly</a:t>
            </a:r>
            <a:r>
              <a:rPr lang="fr-CH" dirty="0"/>
              <a:t> </a:t>
            </a:r>
            <a:r>
              <a:rPr lang="fr-CH" dirty="0" err="1"/>
              <a:t>zero</a:t>
            </a:r>
            <a:r>
              <a:rPr lang="fr-CH" dirty="0"/>
              <a:t> out one or </a:t>
            </a:r>
            <a:r>
              <a:rPr lang="fr-CH" dirty="0" err="1"/>
              <a:t>both</a:t>
            </a:r>
            <a:r>
              <a:rPr lang="fr-CH" dirty="0"/>
              <a:t> </a:t>
            </a:r>
            <a:r>
              <a:rPr lang="fr-CH" dirty="0" err="1"/>
              <a:t>modalities</a:t>
            </a:r>
            <a:r>
              <a:rPr lang="fr-CH" dirty="0"/>
              <a:t>.</a:t>
            </a:r>
          </a:p>
          <a:p>
            <a:endParaRPr lang="fr-CH" dirty="0"/>
          </a:p>
          <a:p>
            <a:r>
              <a:rPr lang="fr-CH" b="1" dirty="0"/>
              <a:t>Limitation</a:t>
            </a:r>
            <a:r>
              <a:rPr lang="fr-CH" dirty="0"/>
              <a:t>: If </a:t>
            </a:r>
            <a:r>
              <a:rPr lang="fr-CH" dirty="0" err="1"/>
              <a:t>depth</a:t>
            </a:r>
            <a:r>
              <a:rPr lang="fr-CH" dirty="0"/>
              <a:t> encodes crucial </a:t>
            </a:r>
            <a:r>
              <a:rPr lang="fr-CH" dirty="0" err="1"/>
              <a:t>geometric</a:t>
            </a:r>
            <a:r>
              <a:rPr lang="fr-CH" dirty="0"/>
              <a:t> infos, </a:t>
            </a:r>
            <a:r>
              <a:rPr lang="fr-CH" dirty="0" err="1"/>
              <a:t>this</a:t>
            </a:r>
            <a:r>
              <a:rPr lang="fr-CH" dirty="0"/>
              <a:t> info </a:t>
            </a:r>
            <a:r>
              <a:rPr lang="fr-CH" dirty="0" err="1"/>
              <a:t>is</a:t>
            </a:r>
            <a:r>
              <a:rPr lang="fr-CH" dirty="0"/>
              <a:t> </a:t>
            </a:r>
            <a:r>
              <a:rPr lang="fr-CH" dirty="0" err="1"/>
              <a:t>lost</a:t>
            </a:r>
            <a:r>
              <a:rPr lang="fr-CH" dirty="0"/>
              <a:t> </a:t>
            </a:r>
            <a:r>
              <a:rPr lang="fr-CH" dirty="0" err="1"/>
              <a:t>when</a:t>
            </a:r>
            <a:r>
              <a:rPr lang="fr-CH" dirty="0"/>
              <a:t> </a:t>
            </a:r>
            <a:r>
              <a:rPr lang="fr-CH" dirty="0" err="1"/>
              <a:t>depth</a:t>
            </a:r>
            <a:r>
              <a:rPr lang="fr-CH" dirty="0"/>
              <a:t> </a:t>
            </a:r>
            <a:r>
              <a:rPr lang="fr-CH" dirty="0" err="1"/>
              <a:t>is</a:t>
            </a:r>
            <a:r>
              <a:rPr lang="fr-CH" dirty="0"/>
              <a:t> absent !</a:t>
            </a:r>
          </a:p>
          <a:p>
            <a:endParaRPr lang="fr-CH" dirty="0"/>
          </a:p>
          <a:p>
            <a:r>
              <a:rPr lang="fr-CH" dirty="0" err="1"/>
              <a:t>Strategy</a:t>
            </a:r>
            <a:r>
              <a:rPr lang="fr-CH" dirty="0"/>
              <a:t> 2: </a:t>
            </a:r>
            <a:r>
              <a:rPr lang="en-US" dirty="0"/>
              <a:t>Active Reconstruction: When a modality is absent, instead of feeding zeros to the LLM, we add a lightweight cross-attention module that reconstructs the missing modality tokens from the available ones. The LLM always receives a complete token sequence, even when a sensor has failed.</a:t>
            </a:r>
            <a:endParaRPr lang="fr-CH" dirty="0"/>
          </a:p>
          <a:p>
            <a:endParaRPr lang="fr-CH" dirty="0"/>
          </a:p>
        </p:txBody>
      </p:sp>
    </p:spTree>
    <p:extLst>
      <p:ext uri="{BB962C8B-B14F-4D97-AF65-F5344CB8AC3E}">
        <p14:creationId xmlns:p14="http://schemas.microsoft.com/office/powerpoint/2010/main" val="282908722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E4E3F2FB-3C6F-3441-8166-3A1FA2A21806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70000"/>
          </a:blip>
          <a:stretch>
            <a:fillRect/>
          </a:stretch>
        </p:blipFill>
        <p:spPr>
          <a:xfrm>
            <a:off x="1395663" y="0"/>
            <a:ext cx="9144000" cy="5143500"/>
          </a:xfrm>
          <a:prstGeom prst="rect">
            <a:avLst/>
          </a:prstGeom>
        </p:spPr>
      </p:pic>
      <p:sp>
        <p:nvSpPr>
          <p:cNvPr id="3" name="Titre 2">
            <a:extLst>
              <a:ext uri="{FF2B5EF4-FFF2-40B4-BE49-F238E27FC236}">
                <a16:creationId xmlns:a16="http://schemas.microsoft.com/office/drawing/2014/main" id="{55A5C923-5A79-224D-A6A6-8267C64759A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69099" y="786535"/>
            <a:ext cx="2738437" cy="2338387"/>
          </a:xfrm>
        </p:spPr>
        <p:txBody>
          <a:bodyPr>
            <a:normAutofit/>
          </a:bodyPr>
          <a:lstStyle/>
          <a:p>
            <a:r>
              <a:rPr lang="fr-FR" sz="3200"/>
              <a:t>Questions &amp; Feedback?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BC3BCA55-E2C0-5C4E-89C0-5D85ED2FB439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2082800" y="4683125"/>
            <a:ext cx="1828800" cy="460375"/>
          </a:xfrm>
        </p:spPr>
        <p:txBody>
          <a:bodyPr/>
          <a:lstStyle/>
          <a:p>
            <a:r>
              <a:rPr lang="en-US" b="1"/>
              <a:t>07.01.2026</a:t>
            </a:r>
            <a:endParaRPr lang="fr-FR" b="1"/>
          </a:p>
        </p:txBody>
      </p:sp>
      <p:sp>
        <p:nvSpPr>
          <p:cNvPr id="6" name="Espace réservé du texte 5">
            <a:extLst>
              <a:ext uri="{FF2B5EF4-FFF2-40B4-BE49-F238E27FC236}">
                <a16:creationId xmlns:a16="http://schemas.microsoft.com/office/drawing/2014/main" id="{18A3154D-FCB0-A34B-BBBC-167C625558E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82549" y="4440264"/>
            <a:ext cx="810830" cy="507975"/>
          </a:xfrm>
        </p:spPr>
        <p:txBody>
          <a:bodyPr/>
          <a:lstStyle/>
          <a:p>
            <a:r>
              <a:rPr lang="fr-FR">
                <a:solidFill>
                  <a:schemeClr val="accent1"/>
                </a:solidFill>
              </a:rPr>
              <a:t>IDIAP</a:t>
            </a:r>
          </a:p>
        </p:txBody>
      </p:sp>
      <p:sp>
        <p:nvSpPr>
          <p:cNvPr id="10" name="Sous-titre 3">
            <a:extLst>
              <a:ext uri="{FF2B5EF4-FFF2-40B4-BE49-F238E27FC236}">
                <a16:creationId xmlns:a16="http://schemas.microsoft.com/office/drawing/2014/main" id="{89B88BB9-873F-A18B-0470-A4D469EFE10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914775" y="3124200"/>
            <a:ext cx="1828800" cy="1568450"/>
          </a:xfrm>
        </p:spPr>
        <p:txBody>
          <a:bodyPr/>
          <a:lstStyle/>
          <a:p>
            <a:pPr>
              <a:spcBef>
                <a:spcPts val="0"/>
              </a:spcBef>
            </a:pPr>
            <a:r>
              <a:rPr lang="en-GB" dirty="0"/>
              <a:t>Alix Papadatos</a:t>
            </a:r>
          </a:p>
          <a:p>
            <a:pPr>
              <a:spcBef>
                <a:spcPts val="0"/>
              </a:spcBef>
            </a:pPr>
            <a:r>
              <a:rPr lang="en-GB" dirty="0"/>
              <a:t>Florian Tanguy</a:t>
            </a:r>
          </a:p>
          <a:p>
            <a:pPr>
              <a:spcBef>
                <a:spcPts val="0"/>
              </a:spcBef>
            </a:pPr>
            <a:r>
              <a:rPr lang="en-GB" dirty="0"/>
              <a:t>Tomas Garate Anderegg</a:t>
            </a:r>
          </a:p>
        </p:txBody>
      </p:sp>
    </p:spTree>
    <p:extLst>
      <p:ext uri="{BB962C8B-B14F-4D97-AF65-F5344CB8AC3E}">
        <p14:creationId xmlns:p14="http://schemas.microsoft.com/office/powerpoint/2010/main" val="3950886890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EPFL - New Colors 2019">
      <a:dk1>
        <a:srgbClr val="413C3A"/>
      </a:dk1>
      <a:lt1>
        <a:srgbClr val="FFFFFF"/>
      </a:lt1>
      <a:dk2>
        <a:srgbClr val="413C3A"/>
      </a:dk2>
      <a:lt2>
        <a:srgbClr val="CAC7C7"/>
      </a:lt2>
      <a:accent1>
        <a:srgbClr val="E30613"/>
      </a:accent1>
      <a:accent2>
        <a:srgbClr val="00A79F"/>
      </a:accent2>
      <a:accent3>
        <a:srgbClr val="413C3A"/>
      </a:accent3>
      <a:accent4>
        <a:srgbClr val="007480"/>
      </a:accent4>
      <a:accent5>
        <a:srgbClr val="F39869"/>
      </a:accent5>
      <a:accent6>
        <a:srgbClr val="B51F1F"/>
      </a:accent6>
      <a:hlink>
        <a:srgbClr val="ED6E9C"/>
      </a:hlink>
      <a:folHlink>
        <a:srgbClr val="4F8FCC"/>
      </a:folHlink>
    </a:clrScheme>
    <a:fontScheme name="EPFL_Beta2">
      <a:majorFont>
        <a:latin typeface="Franklin Gothic Demi Cond"/>
        <a:ea typeface=""/>
        <a:cs typeface=""/>
      </a:majorFont>
      <a:minorFont>
        <a:latin typeface="Arial"/>
        <a:ea typeface=""/>
        <a:cs typeface=""/>
      </a:minorFont>
    </a:fontScheme>
    <a:fmtScheme name="Thèm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emplate_EPFL_Beta2" id="{6A525B41-3E68-491F-A6C9-0B15EA1321FE}" vid="{993E2952-EB5D-4425-8012-1B04381EBC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8306E5EE50F21A438A203B1346065F81" ma:contentTypeVersion="9" ma:contentTypeDescription="Crée un document." ma:contentTypeScope="" ma:versionID="9cd27d3296a95c4f4ef434eb580085e1">
  <xsd:schema xmlns:xsd="http://www.w3.org/2001/XMLSchema" xmlns:xs="http://www.w3.org/2001/XMLSchema" xmlns:p="http://schemas.microsoft.com/office/2006/metadata/properties" xmlns:ns3="784c29d4-6842-4e47-a770-4df3542819fa" xmlns:ns4="f678daa8-af8b-4baf-8128-363f07d5e928" targetNamespace="http://schemas.microsoft.com/office/2006/metadata/properties" ma:root="true" ma:fieldsID="fd71c7a4bf23aeb0e5f5b8c7f59f4717" ns3:_="" ns4:_="">
    <xsd:import namespace="784c29d4-6842-4e47-a770-4df3542819fa"/>
    <xsd:import namespace="f678daa8-af8b-4baf-8128-363f07d5e928"/>
    <xsd:element name="properties">
      <xsd:complexType>
        <xsd:sequence>
          <xsd:element name="documentManagement">
            <xsd:complexType>
              <xsd:all>
                <xsd:element ref="ns3:_activity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ObjectDetectorVersions" minOccurs="0"/>
                <xsd:element ref="ns3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84c29d4-6842-4e47-a770-4df3542819fa" elementFormDefault="qualified">
    <xsd:import namespace="http://schemas.microsoft.com/office/2006/documentManagement/types"/>
    <xsd:import namespace="http://schemas.microsoft.com/office/infopath/2007/PartnerControls"/>
    <xsd:element name="_activity" ma:index="8" nillable="true" ma:displayName="_activity" ma:hidden="true" ma:internalName="_activity">
      <xsd:simpleType>
        <xsd:restriction base="dms:Note"/>
      </xsd:simpleType>
    </xsd:element>
    <xsd:element name="MediaServiceMetadata" ma:index="12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3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4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5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16" nillable="true" ma:displayName="MediaServiceDateTaken" ma:hidden="true" ma:indexed="true" ma:internalName="MediaServiceDateTake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678daa8-af8b-4baf-8128-363f07d5e928" elementFormDefault="qualified">
    <xsd:import namespace="http://schemas.microsoft.com/office/2006/documentManagement/types"/>
    <xsd:import namespace="http://schemas.microsoft.com/office/infopath/2007/PartnerControls"/>
    <xsd:element name="SharedWithUsers" ma:index="9" nillable="true" ma:displayName="Partagé avec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0" nillable="true" ma:displayName="Partagé avec dé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1" nillable="true" ma:displayName="Partage du hachage d’indicateur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e de contenu"/>
        <xsd:element ref="dc:title" minOccurs="0" maxOccurs="1" ma:index="4" ma:displayName="Titr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784c29d4-6842-4e47-a770-4df3542819fa" xsi:nil="true"/>
  </documentManagement>
</p:properties>
</file>

<file path=customXml/itemProps1.xml><?xml version="1.0" encoding="utf-8"?>
<ds:datastoreItem xmlns:ds="http://schemas.openxmlformats.org/officeDocument/2006/customXml" ds:itemID="{266205E9-12FC-4D6C-B0C7-1E9025EEB158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E972B090-21FD-437B-B90B-1E36011642ED}">
  <ds:schemaRefs>
    <ds:schemaRef ds:uri="784c29d4-6842-4e47-a770-4df3542819fa"/>
    <ds:schemaRef ds:uri="f678daa8-af8b-4baf-8128-363f07d5e928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348A6C70-7FF5-480A-B09B-7D0A19B2F431}">
  <ds:schemaRefs>
    <ds:schemaRef ds:uri="http://schemas.microsoft.com/office/2006/documentManagement/types"/>
    <ds:schemaRef ds:uri="http://purl.org/dc/terms/"/>
    <ds:schemaRef ds:uri="f678daa8-af8b-4baf-8128-363f07d5e928"/>
    <ds:schemaRef ds:uri="http://schemas.microsoft.com/office/2006/metadata/properties"/>
    <ds:schemaRef ds:uri="http://purl.org/dc/elements/1.1/"/>
    <ds:schemaRef ds:uri="784c29d4-6842-4e47-a770-4df3542819fa"/>
    <ds:schemaRef ds:uri="http://schemas.openxmlformats.org/package/2006/metadata/core-properties"/>
    <ds:schemaRef ds:uri="http://schemas.microsoft.com/office/infopath/2007/PartnerControls"/>
    <ds:schemaRef ds:uri="http://www.w3.org/XML/1998/namespace"/>
    <ds:schemaRef ds:uri="http://purl.org/dc/dcmitype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Thème Office</Template>
  <TotalTime>0</TotalTime>
  <Words>419</Words>
  <Application>Microsoft Office PowerPoint</Application>
  <PresentationFormat>On-screen Show (16:9)</PresentationFormat>
  <Paragraphs>65</Paragraphs>
  <Slides>8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Arial</vt:lpstr>
      <vt:lpstr>Cambria Math</vt:lpstr>
      <vt:lpstr>Franklin Gothic Demi Cond</vt:lpstr>
      <vt:lpstr>Wingdings</vt:lpstr>
      <vt:lpstr>Thème Office</vt:lpstr>
      <vt:lpstr>RobustVLA  extension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Questions &amp; Feedback?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Welcome to EPFL</dc:title>
  <dc:creator>Utilisateur Microsoft Office</dc:creator>
  <cp:lastModifiedBy>Tomas Joaquin Garate Anderegg</cp:lastModifiedBy>
  <cp:revision>9</cp:revision>
  <cp:lastPrinted>2026-01-07T09:14:55Z</cp:lastPrinted>
  <dcterms:created xsi:type="dcterms:W3CDTF">2019-04-02T06:24:35Z</dcterms:created>
  <dcterms:modified xsi:type="dcterms:W3CDTF">2026-04-10T07:23:04Z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0x0101008306E5EE50F21A438A203B1346065F81</vt:lpwstr>
  </property>
</Properties>
</file>